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3716000" cy="13716000"/>
  <p:notesSz cx="6858000" cy="9144000"/>
  <p:defaultTextStyle>
    <a:defPPr>
      <a:defRPr lang="en-US"/>
    </a:defPPr>
    <a:lvl1pPr marL="0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1pPr>
    <a:lvl2pPr marL="500771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2pPr>
    <a:lvl3pPr marL="1001542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3pPr>
    <a:lvl4pPr marL="1502313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4pPr>
    <a:lvl5pPr marL="2003085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5pPr>
    <a:lvl6pPr marL="2503856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6pPr>
    <a:lvl7pPr marL="3004627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7pPr>
    <a:lvl8pPr marL="3505398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8pPr>
    <a:lvl9pPr marL="4006169" algn="l" defTabSz="500771" rtl="0" eaLnBrk="1" latinLnBrk="0" hangingPunct="1">
      <a:defRPr sz="197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3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F7F"/>
    <a:srgbClr val="0A6A51"/>
    <a:srgbClr val="1F4EAD"/>
    <a:srgbClr val="F3DBE2"/>
    <a:srgbClr val="F2F5FC"/>
    <a:srgbClr val="D4E0F7"/>
    <a:srgbClr val="5FBF9F"/>
    <a:srgbClr val="F0F9F6"/>
    <a:srgbClr val="F1F3F9"/>
    <a:srgbClr val="162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78" y="90"/>
      </p:cViewPr>
      <p:guideLst>
        <p:guide orient="horz" pos="2234"/>
        <p:guide pos="33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2FC9D-1209-44A5-B8ED-C8BC115E2005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11AB3-F7A0-4615-8016-73DB9B966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4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green F0F9F6    dark green 5FBF9F</a:t>
            </a:r>
            <a:br>
              <a:rPr lang="en-US" dirty="0"/>
            </a:br>
            <a:r>
              <a:rPr lang="en-US" dirty="0"/>
              <a:t>Light blue F2F5FC  dark blue  1F4EAD</a:t>
            </a:r>
            <a:br>
              <a:rPr lang="en-US" dirty="0"/>
            </a:br>
            <a:r>
              <a:rPr lang="en-US" dirty="0"/>
              <a:t>pink F3DBE2     red BF5F7F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C11AB3-F7A0-4615-8016-73DB9B9669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484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8129" y="2203888"/>
            <a:ext cx="9045466" cy="15207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6259" y="4020207"/>
            <a:ext cx="7449207" cy="181303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23" y="4558863"/>
            <a:ext cx="9045466" cy="140904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623" y="3006945"/>
            <a:ext cx="9045466" cy="155191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086" y="1655380"/>
            <a:ext cx="4700095" cy="46820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9543" y="1655380"/>
            <a:ext cx="4700095" cy="468203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086" y="1588048"/>
            <a:ext cx="4701943" cy="6618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086" y="2249871"/>
            <a:ext cx="4701943" cy="40875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05849" y="1588048"/>
            <a:ext cx="4703790" cy="6618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05849" y="2249871"/>
            <a:ext cx="4703790" cy="40875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087" y="282465"/>
            <a:ext cx="3501054" cy="120212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0619" y="282466"/>
            <a:ext cx="5949019" cy="60549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2087" y="1484587"/>
            <a:ext cx="3501054" cy="48528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853" y="4966138"/>
            <a:ext cx="6385034" cy="5862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5853" y="633905"/>
            <a:ext cx="6385034" cy="425669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853" y="5552419"/>
            <a:ext cx="6385034" cy="8326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15250" y="284109"/>
            <a:ext cx="2394388" cy="6053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2086" y="284109"/>
            <a:ext cx="7005802" cy="6053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086" y="284108"/>
            <a:ext cx="9577552" cy="1182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086" y="1655380"/>
            <a:ext cx="9577552" cy="4682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086" y="6575535"/>
            <a:ext cx="2483069" cy="377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5923" y="6575535"/>
            <a:ext cx="3369879" cy="377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6569" y="6575535"/>
            <a:ext cx="2483069" cy="3777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MI-based Application boundary"/>
          <p:cNvSpPr/>
          <p:nvPr/>
        </p:nvSpPr>
        <p:spPr>
          <a:xfrm>
            <a:off x="506437" y="716280"/>
            <a:ext cx="12646855" cy="12703178"/>
          </a:xfrm>
          <a:prstGeom prst="ellipse">
            <a:avLst/>
          </a:prstGeom>
          <a:solidFill>
            <a:srgbClr val="F2F5FC"/>
          </a:solidFill>
          <a:ln w="16256">
            <a:solidFill>
              <a:srgbClr val="1F4EAD"/>
            </a:solidFill>
            <a:custDash>
              <a:ds d="437500" sp="375000"/>
            </a:custDash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MI Plugins band"/>
          <p:cNvSpPr/>
          <p:nvPr/>
        </p:nvSpPr>
        <p:spPr>
          <a:xfrm>
            <a:off x="1930400" y="2209800"/>
            <a:ext cx="9855200" cy="9855200"/>
          </a:xfrm>
          <a:prstGeom prst="donut">
            <a:avLst>
              <a:gd name="adj" fmla="val 15463"/>
            </a:avLst>
          </a:prstGeom>
          <a:solidFill>
            <a:srgbClr val="F3DBE2"/>
          </a:solidFill>
          <a:ln w="15240">
            <a:solidFill>
              <a:srgbClr val="BF5F7F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ARMI Framework"/>
          <p:cNvSpPr/>
          <p:nvPr/>
        </p:nvSpPr>
        <p:spPr>
          <a:xfrm>
            <a:off x="3962400" y="4241800"/>
            <a:ext cx="5791200" cy="5791200"/>
          </a:xfrm>
          <a:prstGeom prst="ellipse">
            <a:avLst/>
          </a:prstGeom>
          <a:solidFill>
            <a:srgbClr val="F0F9F6"/>
          </a:solidFill>
          <a:ln w="20320">
            <a:solidFill>
              <a:srgbClr val="5FBF9F">
                <a:alpha val="54902"/>
              </a:srgbClr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Link: Framework - Neutronics"/>
          <p:cNvCxnSpPr/>
          <p:nvPr/>
        </p:nvCxnSpPr>
        <p:spPr>
          <a:xfrm flipV="1">
            <a:off x="8305800" y="4093009"/>
            <a:ext cx="309880" cy="536728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cxnSp>
        <p:nvCxnSpPr>
          <p:cNvPr id="6" name="Link: Framework - Thermal Hydraulics"/>
          <p:cNvCxnSpPr/>
          <p:nvPr/>
        </p:nvCxnSpPr>
        <p:spPr>
          <a:xfrm>
            <a:off x="9753600" y="7137400"/>
            <a:ext cx="619760" cy="0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cxnSp>
        <p:nvCxnSpPr>
          <p:cNvPr id="7" name="Link: Framework - Fuel Performance"/>
          <p:cNvCxnSpPr>
            <a:cxnSpLocks/>
          </p:cNvCxnSpPr>
          <p:nvPr/>
        </p:nvCxnSpPr>
        <p:spPr>
          <a:xfrm>
            <a:off x="3385970" y="7167850"/>
            <a:ext cx="547275" cy="14374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cxnSp>
        <p:nvCxnSpPr>
          <p:cNvPr id="8" name="Link: Framework - Safety &amp; Transients"/>
          <p:cNvCxnSpPr>
            <a:cxnSpLocks/>
          </p:cNvCxnSpPr>
          <p:nvPr/>
        </p:nvCxnSpPr>
        <p:spPr>
          <a:xfrm>
            <a:off x="6884689" y="10076308"/>
            <a:ext cx="0" cy="510372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cxnSp>
        <p:nvCxnSpPr>
          <p:cNvPr id="9" name="Link: Framework - Solid Mechanics"/>
          <p:cNvCxnSpPr>
            <a:cxnSpLocks/>
          </p:cNvCxnSpPr>
          <p:nvPr/>
        </p:nvCxnSpPr>
        <p:spPr>
          <a:xfrm flipH="1" flipV="1">
            <a:off x="5084103" y="4154725"/>
            <a:ext cx="321017" cy="475012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grpSp>
        <p:nvGrpSpPr>
          <p:cNvPr id="11" name="Plugin: Neutronics"/>
          <p:cNvGrpSpPr/>
          <p:nvPr/>
        </p:nvGrpSpPr>
        <p:grpSpPr>
          <a:xfrm>
            <a:off x="6207760" y="10657800"/>
            <a:ext cx="1300480" cy="1300480"/>
            <a:chOff x="7325360" y="2651045"/>
            <a:chExt cx="1300480" cy="1300480"/>
          </a:xfrm>
        </p:grpSpPr>
        <p:sp>
          <p:nvSpPr>
            <p:cNvPr id="12" name="Node"/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Icon tile"/>
            <p:cNvSpPr/>
            <p:nvPr/>
          </p:nvSpPr>
          <p:spPr>
            <a:xfrm>
              <a:off x="7752080" y="2813605"/>
              <a:ext cx="447040" cy="447040"/>
            </a:xfrm>
            <a:prstGeom prst="roundRect">
              <a:avLst>
                <a:gd name="adj" fmla="val 25000"/>
              </a:avLst>
            </a:prstGeom>
            <a:solidFill>
              <a:srgbClr val="F3DB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4" name="Icon: neutronics"/>
            <p:cNvGrpSpPr/>
            <p:nvPr/>
          </p:nvGrpSpPr>
          <p:grpSpPr>
            <a:xfrm>
              <a:off x="7850945" y="2988982"/>
              <a:ext cx="249311" cy="96286"/>
              <a:chOff x="7850945" y="2988982"/>
              <a:chExt cx="249311" cy="96286"/>
            </a:xfrm>
          </p:grpSpPr>
          <p:sp>
            <p:nvSpPr>
              <p:cNvPr id="15" name="Orbit"/>
              <p:cNvSpPr/>
              <p:nvPr/>
            </p:nvSpPr>
            <p:spPr>
              <a:xfrm>
                <a:off x="7850945" y="2988982"/>
                <a:ext cx="249311" cy="96286"/>
              </a:xfrm>
              <a:prstGeom prst="ellipse">
                <a:avLst/>
              </a:prstGeom>
              <a:noFill/>
              <a:ln w="16334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Orbit"/>
              <p:cNvSpPr/>
              <p:nvPr/>
            </p:nvSpPr>
            <p:spPr>
              <a:xfrm rot="3600000">
                <a:off x="7850945" y="2988982"/>
                <a:ext cx="249311" cy="96286"/>
              </a:xfrm>
              <a:prstGeom prst="ellipse">
                <a:avLst/>
              </a:prstGeom>
              <a:noFill/>
              <a:ln w="16334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Orbit"/>
              <p:cNvSpPr/>
              <p:nvPr/>
            </p:nvSpPr>
            <p:spPr>
              <a:xfrm rot="7200000">
                <a:off x="7850945" y="2988982"/>
                <a:ext cx="249311" cy="96286"/>
              </a:xfrm>
              <a:prstGeom prst="ellipse">
                <a:avLst/>
              </a:prstGeom>
              <a:noFill/>
              <a:ln w="16334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Nucleus"/>
              <p:cNvSpPr/>
              <p:nvPr/>
            </p:nvSpPr>
            <p:spPr>
              <a:xfrm>
                <a:off x="7946370" y="3007895"/>
                <a:ext cx="58459" cy="58459"/>
              </a:xfrm>
              <a:prstGeom prst="ellipse">
                <a:avLst/>
              </a:prstGeom>
              <a:solidFill>
                <a:srgbClr val="D9502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19" name="Label"/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80" b="1">
                  <a:solidFill>
                    <a:srgbClr val="172033"/>
                  </a:solidFill>
                  <a:latin typeface="Arial"/>
                </a:rPr>
                <a:t>Neutronics</a:t>
              </a:r>
            </a:p>
          </p:txBody>
        </p:sp>
      </p:grpSp>
      <p:grpSp>
        <p:nvGrpSpPr>
          <p:cNvPr id="20" name="Plugin: Thermal Hydraulics"/>
          <p:cNvGrpSpPr/>
          <p:nvPr/>
        </p:nvGrpSpPr>
        <p:grpSpPr>
          <a:xfrm>
            <a:off x="10373360" y="6487160"/>
            <a:ext cx="1300480" cy="1300480"/>
            <a:chOff x="9408160" y="6258560"/>
            <a:chExt cx="1300480" cy="1300480"/>
          </a:xfrm>
        </p:grpSpPr>
        <p:sp>
          <p:nvSpPr>
            <p:cNvPr id="21" name="Node"/>
            <p:cNvSpPr/>
            <p:nvPr/>
          </p:nvSpPr>
          <p:spPr>
            <a:xfrm>
              <a:off x="9408160" y="6258560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Icon tile"/>
            <p:cNvSpPr/>
            <p:nvPr/>
          </p:nvSpPr>
          <p:spPr>
            <a:xfrm>
              <a:off x="9834880" y="6421120"/>
              <a:ext cx="447040" cy="447040"/>
            </a:xfrm>
            <a:prstGeom prst="roundRect">
              <a:avLst>
                <a:gd name="adj" fmla="val 25000"/>
              </a:avLst>
            </a:prstGeom>
            <a:solidFill>
              <a:srgbClr val="F3DB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3" name="Icon: thermal"/>
            <p:cNvGrpSpPr/>
            <p:nvPr/>
          </p:nvGrpSpPr>
          <p:grpSpPr>
            <a:xfrm>
              <a:off x="9972431" y="6528582"/>
              <a:ext cx="171938" cy="240714"/>
              <a:chOff x="9972431" y="6528582"/>
              <a:chExt cx="171938" cy="240714"/>
            </a:xfrm>
          </p:grpSpPr>
          <p:sp>
            <p:nvSpPr>
              <p:cNvPr id="24" name="Droplet"/>
              <p:cNvSpPr/>
              <p:nvPr/>
            </p:nvSpPr>
            <p:spPr>
              <a:xfrm>
                <a:off x="9972431" y="6528582"/>
                <a:ext cx="171938" cy="240714"/>
              </a:xfrm>
              <a:custGeom>
                <a:avLst/>
                <a:gdLst/>
                <a:ahLst/>
                <a:cxnLst/>
                <a:rect l="0" t="0" r="r" b="b"/>
                <a:pathLst>
                  <a:path w="171938" h="240714" fill="none">
                    <a:moveTo>
                      <a:pt x="85969" y="0"/>
                    </a:moveTo>
                    <a:cubicBezTo>
                      <a:pt x="85969" y="0"/>
                      <a:pt x="0" y="98865"/>
                      <a:pt x="0" y="154745"/>
                    </a:cubicBezTo>
                    <a:cubicBezTo>
                      <a:pt x="0" y="202200"/>
                      <a:pt x="38514" y="240714"/>
                      <a:pt x="85969" y="240714"/>
                    </a:cubicBezTo>
                    <a:cubicBezTo>
                      <a:pt x="133424" y="240714"/>
                      <a:pt x="171938" y="202200"/>
                      <a:pt x="171938" y="154745"/>
                    </a:cubicBezTo>
                    <a:cubicBezTo>
                      <a:pt x="171938" y="98865"/>
                      <a:pt x="85969" y="0"/>
                      <a:pt x="85969" y="0"/>
                    </a:cubicBezTo>
                    <a:close/>
                  </a:path>
                </a:pathLst>
              </a:custGeom>
              <a:noFill/>
              <a:ln w="18913" cap="rnd">
                <a:solidFill>
                  <a:srgbClr val="D950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Highlight"/>
              <p:cNvSpPr/>
              <p:nvPr/>
            </p:nvSpPr>
            <p:spPr>
              <a:xfrm>
                <a:off x="10018854" y="6689344"/>
                <a:ext cx="36967" cy="38686"/>
              </a:xfrm>
              <a:custGeom>
                <a:avLst/>
                <a:gdLst/>
                <a:ahLst/>
                <a:cxnLst/>
                <a:rect l="0" t="0" r="r" b="b"/>
                <a:pathLst>
                  <a:path w="36967" h="38686" fill="none">
                    <a:moveTo>
                      <a:pt x="0" y="0"/>
                    </a:moveTo>
                    <a:cubicBezTo>
                      <a:pt x="0" y="22352"/>
                      <a:pt x="15474" y="38686"/>
                      <a:pt x="36967" y="38686"/>
                    </a:cubicBezTo>
                  </a:path>
                </a:pathLst>
              </a:custGeom>
              <a:noFill/>
              <a:ln w="16334" cap="rnd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6" name="Label"/>
            <p:cNvSpPr txBox="1"/>
            <p:nvPr/>
          </p:nvSpPr>
          <p:spPr>
            <a:xfrm>
              <a:off x="9408160" y="7010400"/>
              <a:ext cx="1300480" cy="3454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 dirty="0">
                  <a:solidFill>
                    <a:srgbClr val="172033"/>
                  </a:solidFill>
                  <a:latin typeface="Arial"/>
                </a:rPr>
                <a:t>Thermal</a:t>
              </a:r>
            </a:p>
            <a:p>
              <a:pPr algn="ctr"/>
              <a:r>
                <a:rPr sz="1000" b="1" dirty="0">
                  <a:solidFill>
                    <a:srgbClr val="172033"/>
                  </a:solidFill>
                  <a:latin typeface="Arial"/>
                </a:rPr>
                <a:t>Hydraulics</a:t>
              </a:r>
            </a:p>
          </p:txBody>
        </p:sp>
      </p:grpSp>
      <p:grpSp>
        <p:nvGrpSpPr>
          <p:cNvPr id="27" name="Plugin: Fuel Performance"/>
          <p:cNvGrpSpPr/>
          <p:nvPr/>
        </p:nvGrpSpPr>
        <p:grpSpPr>
          <a:xfrm>
            <a:off x="2049632" y="6487160"/>
            <a:ext cx="1300480" cy="1300480"/>
            <a:chOff x="7325360" y="9866075"/>
            <a:chExt cx="1300480" cy="1300480"/>
          </a:xfrm>
        </p:grpSpPr>
        <p:sp>
          <p:nvSpPr>
            <p:cNvPr id="28" name="Node"/>
            <p:cNvSpPr/>
            <p:nvPr/>
          </p:nvSpPr>
          <p:spPr>
            <a:xfrm>
              <a:off x="7325360" y="986607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Icon tile"/>
            <p:cNvSpPr/>
            <p:nvPr/>
          </p:nvSpPr>
          <p:spPr>
            <a:xfrm>
              <a:off x="7752080" y="10028635"/>
              <a:ext cx="447040" cy="447040"/>
            </a:xfrm>
            <a:prstGeom prst="roundRect">
              <a:avLst>
                <a:gd name="adj" fmla="val 25000"/>
              </a:avLst>
            </a:prstGeom>
            <a:solidFill>
              <a:srgbClr val="F3DB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30" name="Icon: fuel"/>
            <p:cNvGrpSpPr/>
            <p:nvPr/>
          </p:nvGrpSpPr>
          <p:grpSpPr>
            <a:xfrm>
              <a:off x="7863840" y="10140395"/>
              <a:ext cx="223520" cy="223520"/>
              <a:chOff x="7863840" y="10140395"/>
              <a:chExt cx="223520" cy="223520"/>
            </a:xfrm>
          </p:grpSpPr>
          <p:sp>
            <p:nvSpPr>
              <p:cNvPr id="31" name="Clad"/>
              <p:cNvSpPr/>
              <p:nvPr/>
            </p:nvSpPr>
            <p:spPr>
              <a:xfrm>
                <a:off x="7863840" y="10140395"/>
                <a:ext cx="223520" cy="223520"/>
              </a:xfrm>
              <a:prstGeom prst="ellipse">
                <a:avLst/>
              </a:prstGeom>
              <a:noFill/>
              <a:ln w="18913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Gap"/>
              <p:cNvSpPr/>
              <p:nvPr/>
            </p:nvSpPr>
            <p:spPr>
              <a:xfrm>
                <a:off x="7898228" y="10174783"/>
                <a:ext cx="154745" cy="154745"/>
              </a:xfrm>
              <a:prstGeom prst="ellipse">
                <a:avLst/>
              </a:prstGeom>
              <a:noFill/>
              <a:ln w="13755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Fuel"/>
              <p:cNvSpPr/>
              <p:nvPr/>
            </p:nvSpPr>
            <p:spPr>
              <a:xfrm>
                <a:off x="7927457" y="10204013"/>
                <a:ext cx="96286" cy="96286"/>
              </a:xfrm>
              <a:prstGeom prst="ellipse">
                <a:avLst/>
              </a:prstGeom>
              <a:solidFill>
                <a:srgbClr val="D9502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34" name="Label"/>
            <p:cNvSpPr txBox="1"/>
            <p:nvPr/>
          </p:nvSpPr>
          <p:spPr>
            <a:xfrm>
              <a:off x="7325360" y="10617915"/>
              <a:ext cx="1300480" cy="3454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72033"/>
                  </a:solidFill>
                  <a:latin typeface="Arial"/>
                </a:rPr>
                <a:t>Fuel</a:t>
              </a:r>
            </a:p>
            <a:p>
              <a:pPr algn="ctr"/>
              <a:r>
                <a:rPr sz="1000" b="1">
                  <a:solidFill>
                    <a:srgbClr val="172033"/>
                  </a:solidFill>
                  <a:latin typeface="Arial"/>
                </a:rPr>
                <a:t>Performance</a:t>
              </a:r>
            </a:p>
          </p:txBody>
        </p:sp>
      </p:grpSp>
      <p:grpSp>
        <p:nvGrpSpPr>
          <p:cNvPr id="35" name="Plugin: Safety &amp; Transients"/>
          <p:cNvGrpSpPr/>
          <p:nvPr/>
        </p:nvGrpSpPr>
        <p:grpSpPr>
          <a:xfrm>
            <a:off x="8354060" y="2906550"/>
            <a:ext cx="1300480" cy="1300480"/>
            <a:chOff x="3159760" y="9866075"/>
            <a:chExt cx="1300480" cy="1300480"/>
          </a:xfrm>
        </p:grpSpPr>
        <p:sp>
          <p:nvSpPr>
            <p:cNvPr id="36" name="Node"/>
            <p:cNvSpPr/>
            <p:nvPr/>
          </p:nvSpPr>
          <p:spPr>
            <a:xfrm>
              <a:off x="3159760" y="986607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Icon tile"/>
            <p:cNvSpPr/>
            <p:nvPr/>
          </p:nvSpPr>
          <p:spPr>
            <a:xfrm>
              <a:off x="3586480" y="10028635"/>
              <a:ext cx="447040" cy="447040"/>
            </a:xfrm>
            <a:prstGeom prst="roundRect">
              <a:avLst>
                <a:gd name="adj" fmla="val 25000"/>
              </a:avLst>
            </a:prstGeom>
            <a:solidFill>
              <a:srgbClr val="F3DB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8" name="Icon: safety"/>
            <p:cNvGrpSpPr/>
            <p:nvPr/>
          </p:nvGrpSpPr>
          <p:grpSpPr>
            <a:xfrm>
              <a:off x="3698240" y="10140395"/>
              <a:ext cx="223520" cy="223520"/>
              <a:chOff x="3698240" y="10140395"/>
              <a:chExt cx="223520" cy="223520"/>
            </a:xfrm>
          </p:grpSpPr>
          <p:sp>
            <p:nvSpPr>
              <p:cNvPr id="39" name="Outer ring"/>
              <p:cNvSpPr/>
              <p:nvPr/>
            </p:nvSpPr>
            <p:spPr>
              <a:xfrm>
                <a:off x="3698240" y="10140395"/>
                <a:ext cx="223520" cy="223520"/>
              </a:xfrm>
              <a:prstGeom prst="ellipse">
                <a:avLst/>
              </a:prstGeom>
              <a:noFill/>
              <a:ln w="18913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Inner ring"/>
              <p:cNvSpPr/>
              <p:nvPr/>
            </p:nvSpPr>
            <p:spPr>
              <a:xfrm>
                <a:off x="3754980" y="10197135"/>
                <a:ext cx="110041" cy="110041"/>
              </a:xfrm>
              <a:prstGeom prst="ellipse">
                <a:avLst/>
              </a:prstGeom>
              <a:noFill/>
              <a:ln w="18913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1" name="Band"/>
              <p:cNvCxnSpPr/>
              <p:nvPr/>
            </p:nvCxnSpPr>
            <p:spPr>
              <a:xfrm>
                <a:off x="3848905" y="10291061"/>
                <a:ext cx="40121" cy="40121"/>
              </a:xfrm>
              <a:prstGeom prst="line">
                <a:avLst/>
              </a:prstGeom>
              <a:ln w="39546" cap="rnd">
                <a:solidFill>
                  <a:srgbClr val="D9502F"/>
                </a:solidFill>
              </a:ln>
              <a:effectLst/>
            </p:spPr>
          </p:cxnSp>
          <p:cxnSp>
            <p:nvCxnSpPr>
              <p:cNvPr id="42" name="Band"/>
              <p:cNvCxnSpPr/>
              <p:nvPr/>
            </p:nvCxnSpPr>
            <p:spPr>
              <a:xfrm flipH="1">
                <a:off x="3730974" y="10291061"/>
                <a:ext cx="40121" cy="40121"/>
              </a:xfrm>
              <a:prstGeom prst="line">
                <a:avLst/>
              </a:prstGeom>
              <a:ln w="39546" cap="rnd">
                <a:solidFill>
                  <a:srgbClr val="D9502F"/>
                </a:solidFill>
              </a:ln>
              <a:effectLst/>
            </p:spPr>
          </p:cxnSp>
          <p:cxnSp>
            <p:nvCxnSpPr>
              <p:cNvPr id="43" name="Band"/>
              <p:cNvCxnSpPr/>
              <p:nvPr/>
            </p:nvCxnSpPr>
            <p:spPr>
              <a:xfrm flipH="1" flipV="1">
                <a:off x="3730974" y="10173129"/>
                <a:ext cx="40121" cy="40121"/>
              </a:xfrm>
              <a:prstGeom prst="line">
                <a:avLst/>
              </a:prstGeom>
              <a:ln w="39546" cap="rnd">
                <a:solidFill>
                  <a:srgbClr val="D9502F"/>
                </a:solidFill>
              </a:ln>
              <a:effectLst/>
            </p:spPr>
          </p:cxnSp>
          <p:cxnSp>
            <p:nvCxnSpPr>
              <p:cNvPr id="44" name="Band"/>
              <p:cNvCxnSpPr/>
              <p:nvPr/>
            </p:nvCxnSpPr>
            <p:spPr>
              <a:xfrm flipV="1">
                <a:off x="3848905" y="10173129"/>
                <a:ext cx="40121" cy="40121"/>
              </a:xfrm>
              <a:prstGeom prst="line">
                <a:avLst/>
              </a:prstGeom>
              <a:ln w="39546" cap="rnd">
                <a:solidFill>
                  <a:srgbClr val="D9502F"/>
                </a:solidFill>
              </a:ln>
              <a:effectLst/>
            </p:spPr>
          </p:cxnSp>
        </p:grpSp>
        <p:sp>
          <p:nvSpPr>
            <p:cNvPr id="45" name="Label"/>
            <p:cNvSpPr txBox="1"/>
            <p:nvPr/>
          </p:nvSpPr>
          <p:spPr>
            <a:xfrm>
              <a:off x="3159760" y="10617915"/>
              <a:ext cx="1300480" cy="3454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>
                  <a:solidFill>
                    <a:srgbClr val="172033"/>
                  </a:solidFill>
                  <a:latin typeface="Arial"/>
                </a:rPr>
                <a:t>Safety &amp;</a:t>
              </a:r>
            </a:p>
            <a:p>
              <a:pPr algn="ctr"/>
              <a:r>
                <a:rPr sz="1000" b="1">
                  <a:solidFill>
                    <a:srgbClr val="172033"/>
                  </a:solidFill>
                  <a:latin typeface="Arial"/>
                </a:rPr>
                <a:t>Transients</a:t>
              </a:r>
            </a:p>
          </p:txBody>
        </p:sp>
      </p:grpSp>
      <p:grpSp>
        <p:nvGrpSpPr>
          <p:cNvPr id="46" name="Plugin: Solid Mechanics"/>
          <p:cNvGrpSpPr/>
          <p:nvPr/>
        </p:nvGrpSpPr>
        <p:grpSpPr>
          <a:xfrm>
            <a:off x="4104640" y="2889579"/>
            <a:ext cx="1300480" cy="1300480"/>
            <a:chOff x="1076960" y="6258560"/>
            <a:chExt cx="1300480" cy="1300480"/>
          </a:xfrm>
        </p:grpSpPr>
        <p:sp>
          <p:nvSpPr>
            <p:cNvPr id="47" name="Node"/>
            <p:cNvSpPr/>
            <p:nvPr/>
          </p:nvSpPr>
          <p:spPr>
            <a:xfrm>
              <a:off x="1076960" y="6258560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Icon tile"/>
            <p:cNvSpPr/>
            <p:nvPr/>
          </p:nvSpPr>
          <p:spPr>
            <a:xfrm>
              <a:off x="1503680" y="6421120"/>
              <a:ext cx="447040" cy="447040"/>
            </a:xfrm>
            <a:prstGeom prst="roundRect">
              <a:avLst>
                <a:gd name="adj" fmla="val 25000"/>
              </a:avLst>
            </a:prstGeom>
            <a:solidFill>
              <a:srgbClr val="F3DB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49" name="Icon: mechanical"/>
            <p:cNvGrpSpPr/>
            <p:nvPr/>
          </p:nvGrpSpPr>
          <p:grpSpPr>
            <a:xfrm>
              <a:off x="1641231" y="6528582"/>
              <a:ext cx="153670" cy="232116"/>
              <a:chOff x="1641231" y="6528582"/>
              <a:chExt cx="153670" cy="232116"/>
            </a:xfrm>
          </p:grpSpPr>
          <p:cxnSp>
            <p:nvCxnSpPr>
              <p:cNvPr id="50" name="Nominal"/>
              <p:cNvCxnSpPr/>
              <p:nvPr/>
            </p:nvCxnSpPr>
            <p:spPr>
              <a:xfrm>
                <a:off x="1641231" y="6528582"/>
                <a:ext cx="0" cy="232116"/>
              </a:xfrm>
              <a:prstGeom prst="line">
                <a:avLst/>
              </a:prstGeom>
              <a:ln w="12036" cap="rnd">
                <a:solidFill>
                  <a:srgbClr val="D9502F">
                    <a:alpha val="55000"/>
                  </a:srgbClr>
                </a:solidFill>
                <a:custDash>
                  <a:ds d="171428" sp="185714"/>
                </a:custDash>
              </a:ln>
              <a:effectLst/>
            </p:spPr>
          </p:cxnSp>
          <p:cxnSp>
            <p:nvCxnSpPr>
              <p:cNvPr id="51" name="Nominal"/>
              <p:cNvCxnSpPr/>
              <p:nvPr/>
            </p:nvCxnSpPr>
            <p:spPr>
              <a:xfrm>
                <a:off x="1752991" y="6528582"/>
                <a:ext cx="0" cy="232116"/>
              </a:xfrm>
              <a:prstGeom prst="line">
                <a:avLst/>
              </a:prstGeom>
              <a:ln w="12036" cap="rnd">
                <a:solidFill>
                  <a:srgbClr val="D9502F">
                    <a:alpha val="55000"/>
                  </a:srgbClr>
                </a:solidFill>
                <a:custDash>
                  <a:ds d="171428" sp="185714"/>
                </a:custDash>
              </a:ln>
              <a:effectLst/>
            </p:spPr>
          </p:cxnSp>
          <p:sp>
            <p:nvSpPr>
              <p:cNvPr id="52" name="Bowed duct"/>
              <p:cNvSpPr/>
              <p:nvPr/>
            </p:nvSpPr>
            <p:spPr>
              <a:xfrm>
                <a:off x="1641231" y="6537178"/>
                <a:ext cx="41910" cy="214923"/>
              </a:xfrm>
              <a:custGeom>
                <a:avLst/>
                <a:gdLst/>
                <a:ahLst/>
                <a:cxnLst/>
                <a:rect l="0" t="0" r="r" b="b"/>
                <a:pathLst>
                  <a:path w="41910" h="214923" fill="none">
                    <a:moveTo>
                      <a:pt x="0" y="0"/>
                    </a:moveTo>
                    <a:cubicBezTo>
                      <a:pt x="55880" y="73074"/>
                      <a:pt x="55880" y="141849"/>
                      <a:pt x="0" y="214923"/>
                    </a:cubicBezTo>
                  </a:path>
                </a:pathLst>
              </a:custGeom>
              <a:noFill/>
              <a:ln w="39546" cap="rnd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Bowed duct"/>
              <p:cNvSpPr/>
              <p:nvPr/>
            </p:nvSpPr>
            <p:spPr>
              <a:xfrm>
                <a:off x="1752991" y="6537178"/>
                <a:ext cx="41910" cy="214923"/>
              </a:xfrm>
              <a:custGeom>
                <a:avLst/>
                <a:gdLst/>
                <a:ahLst/>
                <a:cxnLst/>
                <a:rect l="0" t="0" r="r" b="b"/>
                <a:pathLst>
                  <a:path w="41910" h="214923" fill="none">
                    <a:moveTo>
                      <a:pt x="0" y="0"/>
                    </a:moveTo>
                    <a:cubicBezTo>
                      <a:pt x="55880" y="73074"/>
                      <a:pt x="55880" y="141849"/>
                      <a:pt x="0" y="214923"/>
                    </a:cubicBezTo>
                  </a:path>
                </a:pathLst>
              </a:custGeom>
              <a:noFill/>
              <a:ln w="39546" cap="rnd">
                <a:solidFill>
                  <a:srgbClr val="D9502F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54" name="Label"/>
            <p:cNvSpPr txBox="1"/>
            <p:nvPr/>
          </p:nvSpPr>
          <p:spPr>
            <a:xfrm>
              <a:off x="1076960" y="7010400"/>
              <a:ext cx="1300480" cy="3454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000" b="1" dirty="0">
                  <a:solidFill>
                    <a:srgbClr val="172033"/>
                  </a:solidFill>
                  <a:latin typeface="Arial"/>
                </a:rPr>
                <a:t>Solid</a:t>
              </a:r>
            </a:p>
            <a:p>
              <a:pPr algn="ctr"/>
              <a:r>
                <a:rPr sz="1000" b="1" dirty="0">
                  <a:solidFill>
                    <a:srgbClr val="172033"/>
                  </a:solidFill>
                  <a:latin typeface="Arial"/>
                </a:rPr>
                <a:t>Mechanics</a:t>
              </a:r>
            </a:p>
          </p:txBody>
        </p:sp>
      </p:grpSp>
      <p:sp>
        <p:nvSpPr>
          <p:cNvPr id="65" name="Reactor Model label"/>
          <p:cNvSpPr txBox="1"/>
          <p:nvPr/>
        </p:nvSpPr>
        <p:spPr>
          <a:xfrm>
            <a:off x="5334000" y="5000011"/>
            <a:ext cx="3048000" cy="294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60" b="1" dirty="0">
                <a:solidFill>
                  <a:srgbClr val="172033"/>
                </a:solidFill>
                <a:latin typeface="Arial"/>
              </a:rPr>
              <a:t>Reactor </a:t>
            </a:r>
            <a:r>
              <a:rPr lang="en-US" sz="1360" b="1" dirty="0">
                <a:solidFill>
                  <a:srgbClr val="172033"/>
                </a:solidFill>
                <a:latin typeface="Arial"/>
              </a:rPr>
              <a:t>Data </a:t>
            </a:r>
            <a:r>
              <a:rPr sz="1360" b="1" dirty="0">
                <a:solidFill>
                  <a:srgbClr val="172033"/>
                </a:solidFill>
                <a:latin typeface="Arial"/>
              </a:rPr>
              <a:t>Model</a:t>
            </a:r>
            <a:endParaRPr sz="1040" dirty="0">
              <a:solidFill>
                <a:srgbClr val="5A6578"/>
              </a:solidFill>
              <a:latin typeface="Arial"/>
            </a:endParaRPr>
          </a:p>
        </p:txBody>
      </p:sp>
      <p:grpSp>
        <p:nvGrpSpPr>
          <p:cNvPr id="66" name="Reactor Model (3D core in transparent cylinder)"/>
          <p:cNvGrpSpPr/>
          <p:nvPr/>
        </p:nvGrpSpPr>
        <p:grpSpPr>
          <a:xfrm>
            <a:off x="965201" y="228600"/>
            <a:ext cx="7004875" cy="8061514"/>
            <a:chOff x="0" y="0"/>
            <a:chExt cx="7004875" cy="8061514"/>
          </a:xfrm>
        </p:grpSpPr>
        <p:sp>
          <p:nvSpPr>
            <p:cNvPr id="67" name="Base plate (side)"/>
            <p:cNvSpPr/>
            <p:nvPr/>
          </p:nvSpPr>
          <p:spPr>
            <a:xfrm>
              <a:off x="4780726" y="7434357"/>
              <a:ext cx="2224149" cy="627157"/>
            </a:xfrm>
            <a:custGeom>
              <a:avLst/>
              <a:gdLst/>
              <a:ahLst/>
              <a:cxnLst/>
              <a:rect l="0" t="0" r="r" b="b"/>
              <a:pathLst>
                <a:path w="2224149" h="627157">
                  <a:moveTo>
                    <a:pt x="0" y="0"/>
                  </a:move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  <a:lnTo>
                    <a:pt x="2224149" y="71120"/>
                  </a:lnTo>
                  <a:cubicBezTo>
                    <a:pt x="2224149" y="378211"/>
                    <a:pt x="1726256" y="627157"/>
                    <a:pt x="1112074" y="627157"/>
                  </a:cubicBezTo>
                  <a:cubicBezTo>
                    <a:pt x="497893" y="627157"/>
                    <a:pt x="0" y="378211"/>
                    <a:pt x="0" y="71120"/>
                  </a:cubicBezTo>
                  <a:close/>
                </a:path>
              </a:pathLst>
            </a:custGeom>
            <a:solidFill>
              <a:srgbClr val="B4E0C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Base plate (top)"/>
            <p:cNvSpPr/>
            <p:nvPr/>
          </p:nvSpPr>
          <p:spPr>
            <a:xfrm>
              <a:off x="4780726" y="6878320"/>
              <a:ext cx="2224149" cy="1112074"/>
            </a:xfrm>
            <a:prstGeom prst="ellipse">
              <a:avLst/>
            </a:prstGeom>
            <a:solidFill>
              <a:srgbClr val="E6F5EF"/>
            </a:solidFill>
            <a:ln w="12192">
              <a:solidFill>
                <a:srgbClr val="B4E0CE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Cylinder glass (back)"/>
            <p:cNvSpPr/>
            <p:nvPr/>
          </p:nvSpPr>
          <p:spPr>
            <a:xfrm>
              <a:off x="4780726" y="5303520"/>
              <a:ext cx="2224149" cy="2686874"/>
            </a:xfrm>
            <a:custGeom>
              <a:avLst/>
              <a:gdLst/>
              <a:ahLst/>
              <a:cxnLst/>
              <a:rect l="0" t="0" r="r" b="b"/>
              <a:pathLst>
                <a:path w="2224149" h="2686874">
                  <a:moveTo>
                    <a:pt x="0" y="2130837"/>
                  </a:moveTo>
                  <a:lnTo>
                    <a:pt x="0" y="556037"/>
                  </a:lnTo>
                  <a:cubicBezTo>
                    <a:pt x="0" y="248946"/>
                    <a:pt x="497893" y="0"/>
                    <a:pt x="1112074" y="0"/>
                  </a:cubicBezTo>
                  <a:cubicBezTo>
                    <a:pt x="1726256" y="0"/>
                    <a:pt x="2224149" y="248946"/>
                    <a:pt x="2224149" y="556037"/>
                  </a:cubicBezTo>
                  <a:lnTo>
                    <a:pt x="2224149" y="2130837"/>
                  </a:lnTo>
                  <a:cubicBezTo>
                    <a:pt x="2224149" y="2437928"/>
                    <a:pt x="1726256" y="2686874"/>
                    <a:pt x="1112074" y="2686874"/>
                  </a:cubicBezTo>
                  <a:cubicBezTo>
                    <a:pt x="497893" y="2686874"/>
                    <a:pt x="0" y="2437928"/>
                    <a:pt x="0" y="2130837"/>
                  </a:cubicBezTo>
                  <a:close/>
                </a:path>
              </a:pathLst>
            </a:custGeom>
            <a:solidFill>
              <a:srgbClr val="0E9270">
                <a:alpha val="7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im (back)"/>
            <p:cNvSpPr/>
            <p:nvPr/>
          </p:nvSpPr>
          <p:spPr>
            <a:xfrm>
              <a:off x="4780726" y="5303520"/>
              <a:ext cx="2224149" cy="556037"/>
            </a:xfrm>
            <a:custGeom>
              <a:avLst/>
              <a:gdLst/>
              <a:ahLst/>
              <a:cxnLst/>
              <a:rect l="0" t="0" r="r" b="b"/>
              <a:pathLst>
                <a:path w="2224149" h="556037" fill="none">
                  <a:moveTo>
                    <a:pt x="0" y="556037"/>
                  </a:moveTo>
                  <a:cubicBezTo>
                    <a:pt x="0" y="248946"/>
                    <a:pt x="497893" y="0"/>
                    <a:pt x="1112074" y="0"/>
                  </a:cubicBezTo>
                  <a:cubicBezTo>
                    <a:pt x="1726256" y="0"/>
                    <a:pt x="2224149" y="248946"/>
                    <a:pt x="2224149" y="556037"/>
                  </a:cubicBezTo>
                </a:path>
              </a:pathLst>
            </a:custGeom>
            <a:noFill/>
            <a:ln w="14224" cap="rnd">
              <a:solidFill>
                <a:srgbClr val="0E9270">
                  <a:alpha val="44000"/>
                </a:srgbClr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71" name="Assembly fuel (0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2" name="Left face"/>
              <p:cNvSpPr/>
              <p:nvPr/>
            </p:nvSpPr>
            <p:spPr>
              <a:xfrm>
                <a:off x="5329676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Right face"/>
              <p:cNvSpPr/>
              <p:nvPr/>
            </p:nvSpPr>
            <p:spPr>
              <a:xfrm>
                <a:off x="5454619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Top face"/>
              <p:cNvSpPr/>
              <p:nvPr/>
            </p:nvSpPr>
            <p:spPr>
              <a:xfrm>
                <a:off x="5329676" y="552986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5" name="Assembly fuel (1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6" name="Left face"/>
              <p:cNvSpPr/>
              <p:nvPr/>
            </p:nvSpPr>
            <p:spPr>
              <a:xfrm>
                <a:off x="5621796" y="563806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Right face"/>
              <p:cNvSpPr/>
              <p:nvPr/>
            </p:nvSpPr>
            <p:spPr>
              <a:xfrm>
                <a:off x="5746740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Top face"/>
              <p:cNvSpPr/>
              <p:nvPr/>
            </p:nvSpPr>
            <p:spPr>
              <a:xfrm>
                <a:off x="5621796" y="552986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79" name="Assembly fuel (2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0" name="Left face"/>
              <p:cNvSpPr/>
              <p:nvPr/>
            </p:nvSpPr>
            <p:spPr>
              <a:xfrm>
                <a:off x="5913917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Right face"/>
              <p:cNvSpPr/>
              <p:nvPr/>
            </p:nvSpPr>
            <p:spPr>
              <a:xfrm>
                <a:off x="6038860" y="563806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Top face"/>
              <p:cNvSpPr/>
              <p:nvPr/>
            </p:nvSpPr>
            <p:spPr>
              <a:xfrm>
                <a:off x="5913917" y="552986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3" name="Assembly fuel (3,-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4" name="Left face"/>
              <p:cNvSpPr/>
              <p:nvPr/>
            </p:nvSpPr>
            <p:spPr>
              <a:xfrm>
                <a:off x="6206038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Right face"/>
              <p:cNvSpPr/>
              <p:nvPr/>
            </p:nvSpPr>
            <p:spPr>
              <a:xfrm>
                <a:off x="6330981" y="563806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Top face"/>
              <p:cNvSpPr/>
              <p:nvPr/>
            </p:nvSpPr>
            <p:spPr>
              <a:xfrm>
                <a:off x="6206038" y="552986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87" name="Assembly fuel (-1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8" name="Left face"/>
              <p:cNvSpPr/>
              <p:nvPr/>
            </p:nvSpPr>
            <p:spPr>
              <a:xfrm>
                <a:off x="5183615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Right face"/>
              <p:cNvSpPr/>
              <p:nvPr/>
            </p:nvSpPr>
            <p:spPr>
              <a:xfrm>
                <a:off x="5308558" y="576456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Top face"/>
              <p:cNvSpPr/>
              <p:nvPr/>
            </p:nvSpPr>
            <p:spPr>
              <a:xfrm>
                <a:off x="5183615" y="565635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1" name="Assembly control (0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2" name="Left face"/>
              <p:cNvSpPr/>
              <p:nvPr/>
            </p:nvSpPr>
            <p:spPr>
              <a:xfrm>
                <a:off x="5475736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Right face"/>
              <p:cNvSpPr/>
              <p:nvPr/>
            </p:nvSpPr>
            <p:spPr>
              <a:xfrm>
                <a:off x="5600679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Top face"/>
              <p:cNvSpPr/>
              <p:nvPr/>
            </p:nvSpPr>
            <p:spPr>
              <a:xfrm>
                <a:off x="5475736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5" name="Assembly fuel (1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96" name="Left face"/>
              <p:cNvSpPr/>
              <p:nvPr/>
            </p:nvSpPr>
            <p:spPr>
              <a:xfrm>
                <a:off x="5767857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Right face"/>
              <p:cNvSpPr/>
              <p:nvPr/>
            </p:nvSpPr>
            <p:spPr>
              <a:xfrm>
                <a:off x="5892800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Top face"/>
              <p:cNvSpPr/>
              <p:nvPr/>
            </p:nvSpPr>
            <p:spPr>
              <a:xfrm>
                <a:off x="5767857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99" name="Assembly control (2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0" name="Left face"/>
              <p:cNvSpPr/>
              <p:nvPr/>
            </p:nvSpPr>
            <p:spPr>
              <a:xfrm>
                <a:off x="6059978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Right face"/>
              <p:cNvSpPr/>
              <p:nvPr/>
            </p:nvSpPr>
            <p:spPr>
              <a:xfrm>
                <a:off x="6184921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Top face"/>
              <p:cNvSpPr/>
              <p:nvPr/>
            </p:nvSpPr>
            <p:spPr>
              <a:xfrm>
                <a:off x="6059978" y="565635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3" name="Assembly fuel (3,-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4" name="Left face"/>
              <p:cNvSpPr/>
              <p:nvPr/>
            </p:nvSpPr>
            <p:spPr>
              <a:xfrm>
                <a:off x="6352098" y="576456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Right face"/>
              <p:cNvSpPr/>
              <p:nvPr/>
            </p:nvSpPr>
            <p:spPr>
              <a:xfrm>
                <a:off x="6477042" y="576456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Top face"/>
              <p:cNvSpPr/>
              <p:nvPr/>
            </p:nvSpPr>
            <p:spPr>
              <a:xfrm>
                <a:off x="6352098" y="565635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07" name="Assembly fuel (-2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Left face"/>
              <p:cNvSpPr/>
              <p:nvPr/>
            </p:nvSpPr>
            <p:spPr>
              <a:xfrm>
                <a:off x="5037555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Right face"/>
              <p:cNvSpPr/>
              <p:nvPr/>
            </p:nvSpPr>
            <p:spPr>
              <a:xfrm>
                <a:off x="5162498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Top face"/>
              <p:cNvSpPr/>
              <p:nvPr/>
            </p:nvSpPr>
            <p:spPr>
              <a:xfrm>
                <a:off x="5037555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1" name="Assembly fuel (-1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2" name="Left face"/>
              <p:cNvSpPr/>
              <p:nvPr/>
            </p:nvSpPr>
            <p:spPr>
              <a:xfrm>
                <a:off x="5329676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Right face"/>
              <p:cNvSpPr/>
              <p:nvPr/>
            </p:nvSpPr>
            <p:spPr>
              <a:xfrm>
                <a:off x="5454619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Top face"/>
              <p:cNvSpPr/>
              <p:nvPr/>
            </p:nvSpPr>
            <p:spPr>
              <a:xfrm>
                <a:off x="5329676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5" name="Assembly fuel (0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16" name="Left face"/>
              <p:cNvSpPr/>
              <p:nvPr/>
            </p:nvSpPr>
            <p:spPr>
              <a:xfrm>
                <a:off x="5621796" y="5891053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Right face"/>
              <p:cNvSpPr/>
              <p:nvPr/>
            </p:nvSpPr>
            <p:spPr>
              <a:xfrm>
                <a:off x="5746740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Top face"/>
              <p:cNvSpPr/>
              <p:nvPr/>
            </p:nvSpPr>
            <p:spPr>
              <a:xfrm>
                <a:off x="5621796" y="5782849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19" name="Assembly fuel (1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0" name="Left face"/>
              <p:cNvSpPr/>
              <p:nvPr/>
            </p:nvSpPr>
            <p:spPr>
              <a:xfrm>
                <a:off x="5913917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Right face"/>
              <p:cNvSpPr/>
              <p:nvPr/>
            </p:nvSpPr>
            <p:spPr>
              <a:xfrm>
                <a:off x="6038860" y="5891053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Top face"/>
              <p:cNvSpPr/>
              <p:nvPr/>
            </p:nvSpPr>
            <p:spPr>
              <a:xfrm>
                <a:off x="5913917" y="5782849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3" name="Assembly fuel (2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4" name="Left face"/>
              <p:cNvSpPr/>
              <p:nvPr/>
            </p:nvSpPr>
            <p:spPr>
              <a:xfrm>
                <a:off x="6206038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Right face"/>
              <p:cNvSpPr/>
              <p:nvPr/>
            </p:nvSpPr>
            <p:spPr>
              <a:xfrm>
                <a:off x="6330981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Top face"/>
              <p:cNvSpPr/>
              <p:nvPr/>
            </p:nvSpPr>
            <p:spPr>
              <a:xfrm>
                <a:off x="6206038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27" name="Assembly fuel (3,-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8" name="Left face"/>
              <p:cNvSpPr/>
              <p:nvPr/>
            </p:nvSpPr>
            <p:spPr>
              <a:xfrm>
                <a:off x="6498159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Right face"/>
              <p:cNvSpPr/>
              <p:nvPr/>
            </p:nvSpPr>
            <p:spPr>
              <a:xfrm>
                <a:off x="6623102" y="5891053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Top face"/>
              <p:cNvSpPr/>
              <p:nvPr/>
            </p:nvSpPr>
            <p:spPr>
              <a:xfrm>
                <a:off x="6498159" y="5782849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1" name="Assembly fuel (-3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32" name="Left face"/>
              <p:cNvSpPr/>
              <p:nvPr/>
            </p:nvSpPr>
            <p:spPr>
              <a:xfrm>
                <a:off x="4891494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Right face"/>
              <p:cNvSpPr/>
              <p:nvPr/>
            </p:nvSpPr>
            <p:spPr>
              <a:xfrm>
                <a:off x="5016438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Top face"/>
              <p:cNvSpPr/>
              <p:nvPr/>
            </p:nvSpPr>
            <p:spPr>
              <a:xfrm>
                <a:off x="4891494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5" name="Assembly control (-2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36" name="Left face"/>
              <p:cNvSpPr/>
              <p:nvPr/>
            </p:nvSpPr>
            <p:spPr>
              <a:xfrm>
                <a:off x="5183615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Right face"/>
              <p:cNvSpPr/>
              <p:nvPr/>
            </p:nvSpPr>
            <p:spPr>
              <a:xfrm>
                <a:off x="5308558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Top face"/>
              <p:cNvSpPr/>
              <p:nvPr/>
            </p:nvSpPr>
            <p:spPr>
              <a:xfrm>
                <a:off x="5183615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39" name="Assembly fuel (-1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0" name="Left face"/>
              <p:cNvSpPr/>
              <p:nvPr/>
            </p:nvSpPr>
            <p:spPr>
              <a:xfrm>
                <a:off x="5475736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Right face"/>
              <p:cNvSpPr/>
              <p:nvPr/>
            </p:nvSpPr>
            <p:spPr>
              <a:xfrm>
                <a:off x="5600679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Top face"/>
              <p:cNvSpPr/>
              <p:nvPr/>
            </p:nvSpPr>
            <p:spPr>
              <a:xfrm>
                <a:off x="5475736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3" name="Assembly fuel (0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4" name="Left face"/>
              <p:cNvSpPr/>
              <p:nvPr/>
            </p:nvSpPr>
            <p:spPr>
              <a:xfrm>
                <a:off x="5767857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C7B5E"/>
              </a:solidFill>
              <a:ln w="8128">
                <a:solidFill>
                  <a:srgbClr val="0C7B5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Right face"/>
              <p:cNvSpPr/>
              <p:nvPr/>
            </p:nvSpPr>
            <p:spPr>
              <a:xfrm>
                <a:off x="5892800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A634C"/>
              </a:solidFill>
              <a:ln w="8128">
                <a:solidFill>
                  <a:srgbClr val="0A634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Top face"/>
              <p:cNvSpPr/>
              <p:nvPr/>
            </p:nvSpPr>
            <p:spPr>
              <a:xfrm>
                <a:off x="5767857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E9270"/>
              </a:solidFill>
              <a:ln w="10160">
                <a:solidFill>
                  <a:srgbClr val="62B8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47" name="Assembly fuel (1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8" name="Left face"/>
              <p:cNvSpPr/>
              <p:nvPr/>
            </p:nvSpPr>
            <p:spPr>
              <a:xfrm>
                <a:off x="6059978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Right face"/>
              <p:cNvSpPr/>
              <p:nvPr/>
            </p:nvSpPr>
            <p:spPr>
              <a:xfrm>
                <a:off x="6184921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Top face"/>
              <p:cNvSpPr/>
              <p:nvPr/>
            </p:nvSpPr>
            <p:spPr>
              <a:xfrm>
                <a:off x="6059978" y="5909341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1" name="Assembly control (2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52" name="Left face"/>
              <p:cNvSpPr/>
              <p:nvPr/>
            </p:nvSpPr>
            <p:spPr>
              <a:xfrm>
                <a:off x="6352098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Right face"/>
              <p:cNvSpPr/>
              <p:nvPr/>
            </p:nvSpPr>
            <p:spPr>
              <a:xfrm>
                <a:off x="6477042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Top face"/>
              <p:cNvSpPr/>
              <p:nvPr/>
            </p:nvSpPr>
            <p:spPr>
              <a:xfrm>
                <a:off x="6352098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5" name="Assembly fuel (3,0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56" name="Left face"/>
              <p:cNvSpPr/>
              <p:nvPr/>
            </p:nvSpPr>
            <p:spPr>
              <a:xfrm>
                <a:off x="6644219" y="6017545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Right face"/>
              <p:cNvSpPr/>
              <p:nvPr/>
            </p:nvSpPr>
            <p:spPr>
              <a:xfrm>
                <a:off x="6769162" y="6017545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Top face"/>
              <p:cNvSpPr/>
              <p:nvPr/>
            </p:nvSpPr>
            <p:spPr>
              <a:xfrm>
                <a:off x="6644219" y="5909341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59" name="Assembly fuel (-3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0" name="Left face"/>
              <p:cNvSpPr/>
              <p:nvPr/>
            </p:nvSpPr>
            <p:spPr>
              <a:xfrm>
                <a:off x="5037555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Right face"/>
              <p:cNvSpPr/>
              <p:nvPr/>
            </p:nvSpPr>
            <p:spPr>
              <a:xfrm>
                <a:off x="5162498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2" name="Top face"/>
              <p:cNvSpPr/>
              <p:nvPr/>
            </p:nvSpPr>
            <p:spPr>
              <a:xfrm>
                <a:off x="5037555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3" name="Assembly fuel (-2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4" name="Left face"/>
              <p:cNvSpPr/>
              <p:nvPr/>
            </p:nvSpPr>
            <p:spPr>
              <a:xfrm>
                <a:off x="5329676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Right face"/>
              <p:cNvSpPr/>
              <p:nvPr/>
            </p:nvSpPr>
            <p:spPr>
              <a:xfrm>
                <a:off x="5454619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Top face"/>
              <p:cNvSpPr/>
              <p:nvPr/>
            </p:nvSpPr>
            <p:spPr>
              <a:xfrm>
                <a:off x="5329676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67" name="Assembly fuel (-1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8" name="Left face"/>
              <p:cNvSpPr/>
              <p:nvPr/>
            </p:nvSpPr>
            <p:spPr>
              <a:xfrm>
                <a:off x="5621796" y="6144037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Right face"/>
              <p:cNvSpPr/>
              <p:nvPr/>
            </p:nvSpPr>
            <p:spPr>
              <a:xfrm>
                <a:off x="5746740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Top face"/>
              <p:cNvSpPr/>
              <p:nvPr/>
            </p:nvSpPr>
            <p:spPr>
              <a:xfrm>
                <a:off x="5621796" y="6035833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1" name="Assembly fuel (0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2" name="Left face"/>
              <p:cNvSpPr/>
              <p:nvPr/>
            </p:nvSpPr>
            <p:spPr>
              <a:xfrm>
                <a:off x="5913917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359376"/>
              </a:solidFill>
              <a:ln w="8128">
                <a:solidFill>
                  <a:srgbClr val="3593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Right face"/>
              <p:cNvSpPr/>
              <p:nvPr/>
            </p:nvSpPr>
            <p:spPr>
              <a:xfrm>
                <a:off x="6038860" y="6144037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2B7760"/>
              </a:solidFill>
              <a:ln w="8128">
                <a:solidFill>
                  <a:srgbClr val="2B776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Top face"/>
              <p:cNvSpPr/>
              <p:nvPr/>
            </p:nvSpPr>
            <p:spPr>
              <a:xfrm>
                <a:off x="5913917" y="6035833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3FAF8D"/>
              </a:solidFill>
              <a:ln w="10160">
                <a:solidFill>
                  <a:srgbClr val="82CB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5" name="Assembly fuel (1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76" name="Left face"/>
              <p:cNvSpPr/>
              <p:nvPr/>
            </p:nvSpPr>
            <p:spPr>
              <a:xfrm>
                <a:off x="6206038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Right face"/>
              <p:cNvSpPr/>
              <p:nvPr/>
            </p:nvSpPr>
            <p:spPr>
              <a:xfrm>
                <a:off x="6330981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Top face"/>
              <p:cNvSpPr/>
              <p:nvPr/>
            </p:nvSpPr>
            <p:spPr>
              <a:xfrm>
                <a:off x="6206038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79" name="Assembly fuel (2,1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Left face"/>
              <p:cNvSpPr/>
              <p:nvPr/>
            </p:nvSpPr>
            <p:spPr>
              <a:xfrm>
                <a:off x="6498159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Right face"/>
              <p:cNvSpPr/>
              <p:nvPr/>
            </p:nvSpPr>
            <p:spPr>
              <a:xfrm>
                <a:off x="6623102" y="6144037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Top face"/>
              <p:cNvSpPr/>
              <p:nvPr/>
            </p:nvSpPr>
            <p:spPr>
              <a:xfrm>
                <a:off x="6498159" y="6035833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83" name="Assembly fuel (-3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4" name="Left face"/>
              <p:cNvSpPr/>
              <p:nvPr/>
            </p:nvSpPr>
            <p:spPr>
              <a:xfrm>
                <a:off x="5183615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Right face"/>
              <p:cNvSpPr/>
              <p:nvPr/>
            </p:nvSpPr>
            <p:spPr>
              <a:xfrm>
                <a:off x="5308558" y="627052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Top face"/>
              <p:cNvSpPr/>
              <p:nvPr/>
            </p:nvSpPr>
            <p:spPr>
              <a:xfrm>
                <a:off x="5183615" y="616232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87" name="Assembly control (-2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8" name="Left face"/>
              <p:cNvSpPr/>
              <p:nvPr/>
            </p:nvSpPr>
            <p:spPr>
              <a:xfrm>
                <a:off x="5475736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Right face"/>
              <p:cNvSpPr/>
              <p:nvPr/>
            </p:nvSpPr>
            <p:spPr>
              <a:xfrm>
                <a:off x="5600679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Top face"/>
              <p:cNvSpPr/>
              <p:nvPr/>
            </p:nvSpPr>
            <p:spPr>
              <a:xfrm>
                <a:off x="5475736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1" name="Assembly fuel (-1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2" name="Left face"/>
              <p:cNvSpPr/>
              <p:nvPr/>
            </p:nvSpPr>
            <p:spPr>
              <a:xfrm>
                <a:off x="5767857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68AC96"/>
              </a:solidFill>
              <a:ln w="8128">
                <a:solidFill>
                  <a:srgbClr val="68AC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Right face"/>
              <p:cNvSpPr/>
              <p:nvPr/>
            </p:nvSpPr>
            <p:spPr>
              <a:xfrm>
                <a:off x="5892800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548B79"/>
              </a:solidFill>
              <a:ln w="8128">
                <a:solidFill>
                  <a:srgbClr val="548B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Top face"/>
              <p:cNvSpPr/>
              <p:nvPr/>
            </p:nvSpPr>
            <p:spPr>
              <a:xfrm>
                <a:off x="5767857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7CCDB2"/>
              </a:solidFill>
              <a:ln w="10160">
                <a:solidFill>
                  <a:srgbClr val="AADE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5" name="Assembly control (0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6" name="Left face"/>
              <p:cNvSpPr/>
              <p:nvPr/>
            </p:nvSpPr>
            <p:spPr>
              <a:xfrm>
                <a:off x="6059978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09493A"/>
              </a:solidFill>
              <a:ln w="8128">
                <a:solidFill>
                  <a:srgbClr val="09493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Right face"/>
              <p:cNvSpPr/>
              <p:nvPr/>
            </p:nvSpPr>
            <p:spPr>
              <a:xfrm>
                <a:off x="6184921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083F32"/>
              </a:solidFill>
              <a:ln w="8128">
                <a:solidFill>
                  <a:srgbClr val="083F3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Top face"/>
              <p:cNvSpPr/>
              <p:nvPr/>
            </p:nvSpPr>
            <p:spPr>
              <a:xfrm>
                <a:off x="6059978" y="6162325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0A5140"/>
              </a:solidFill>
              <a:ln w="10160">
                <a:solidFill>
                  <a:srgbClr val="608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199" name="Assembly fuel (1,2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0" name="Left face"/>
              <p:cNvSpPr/>
              <p:nvPr/>
            </p:nvSpPr>
            <p:spPr>
              <a:xfrm>
                <a:off x="6352098" y="6270529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Right face"/>
              <p:cNvSpPr/>
              <p:nvPr/>
            </p:nvSpPr>
            <p:spPr>
              <a:xfrm>
                <a:off x="6477042" y="6270529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Top face"/>
              <p:cNvSpPr/>
              <p:nvPr/>
            </p:nvSpPr>
            <p:spPr>
              <a:xfrm>
                <a:off x="6352098" y="6162325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3" name="Assembly fuel (-3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4" name="Left face"/>
              <p:cNvSpPr/>
              <p:nvPr/>
            </p:nvSpPr>
            <p:spPr>
              <a:xfrm>
                <a:off x="5329676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Right face"/>
              <p:cNvSpPr/>
              <p:nvPr/>
            </p:nvSpPr>
            <p:spPr>
              <a:xfrm>
                <a:off x="5454619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Top face"/>
              <p:cNvSpPr/>
              <p:nvPr/>
            </p:nvSpPr>
            <p:spPr>
              <a:xfrm>
                <a:off x="5329676" y="628881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7" name="Assembly fuel (-2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08" name="Left face"/>
              <p:cNvSpPr/>
              <p:nvPr/>
            </p:nvSpPr>
            <p:spPr>
              <a:xfrm>
                <a:off x="5621796" y="639702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0"/>
                    </a:moveTo>
                    <a:lnTo>
                      <a:pt x="124944" y="36068"/>
                    </a:lnTo>
                    <a:lnTo>
                      <a:pt x="124944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Right face"/>
              <p:cNvSpPr/>
              <p:nvPr/>
            </p:nvSpPr>
            <p:spPr>
              <a:xfrm>
                <a:off x="5746740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Top face"/>
              <p:cNvSpPr/>
              <p:nvPr/>
            </p:nvSpPr>
            <p:spPr>
              <a:xfrm>
                <a:off x="5621796" y="628881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4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4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1" name="Assembly fuel (-1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2" name="Left face"/>
              <p:cNvSpPr/>
              <p:nvPr/>
            </p:nvSpPr>
            <p:spPr>
              <a:xfrm>
                <a:off x="5913917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Right face"/>
              <p:cNvSpPr/>
              <p:nvPr/>
            </p:nvSpPr>
            <p:spPr>
              <a:xfrm>
                <a:off x="6038860" y="6397021"/>
                <a:ext cx="124944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4" h="1488948">
                    <a:moveTo>
                      <a:pt x="0" y="36068"/>
                    </a:moveTo>
                    <a:lnTo>
                      <a:pt x="124944" y="0"/>
                    </a:lnTo>
                    <a:lnTo>
                      <a:pt x="124944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Top face"/>
              <p:cNvSpPr/>
              <p:nvPr/>
            </p:nvSpPr>
            <p:spPr>
              <a:xfrm>
                <a:off x="5913917" y="6288817"/>
                <a:ext cx="249887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7" h="144272">
                    <a:moveTo>
                      <a:pt x="249887" y="36068"/>
                    </a:moveTo>
                    <a:lnTo>
                      <a:pt x="249887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15" name="Assembly fuel (0,3)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6" name="Left face"/>
              <p:cNvSpPr/>
              <p:nvPr/>
            </p:nvSpPr>
            <p:spPr>
              <a:xfrm>
                <a:off x="6206038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0"/>
                    </a:moveTo>
                    <a:lnTo>
                      <a:pt x="124943" y="36068"/>
                    </a:lnTo>
                    <a:lnTo>
                      <a:pt x="124943" y="1488948"/>
                    </a:lnTo>
                    <a:lnTo>
                      <a:pt x="0" y="1452880"/>
                    </a:lnTo>
                    <a:close/>
                  </a:path>
                </a:pathLst>
              </a:custGeom>
              <a:solidFill>
                <a:srgbClr val="94BDAF"/>
              </a:solidFill>
              <a:ln w="8128">
                <a:solidFill>
                  <a:srgbClr val="94BD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Right face"/>
              <p:cNvSpPr/>
              <p:nvPr/>
            </p:nvSpPr>
            <p:spPr>
              <a:xfrm>
                <a:off x="6330981" y="6397021"/>
                <a:ext cx="124943" cy="1488948"/>
              </a:xfrm>
              <a:custGeom>
                <a:avLst/>
                <a:gdLst/>
                <a:ahLst/>
                <a:cxnLst/>
                <a:rect l="l" t="t" r="r" b="b"/>
                <a:pathLst>
                  <a:path w="124943" h="1488948">
                    <a:moveTo>
                      <a:pt x="0" y="36068"/>
                    </a:moveTo>
                    <a:lnTo>
                      <a:pt x="124943" y="0"/>
                    </a:lnTo>
                    <a:lnTo>
                      <a:pt x="124943" y="1452880"/>
                    </a:lnTo>
                    <a:lnTo>
                      <a:pt x="0" y="1488948"/>
                    </a:lnTo>
                    <a:close/>
                  </a:path>
                </a:pathLst>
              </a:custGeom>
              <a:solidFill>
                <a:srgbClr val="78998D"/>
              </a:solidFill>
              <a:ln w="8128">
                <a:solidFill>
                  <a:srgbClr val="789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Top face"/>
              <p:cNvSpPr/>
              <p:nvPr/>
            </p:nvSpPr>
            <p:spPr>
              <a:xfrm>
                <a:off x="6206038" y="6288817"/>
                <a:ext cx="249886" cy="144272"/>
              </a:xfrm>
              <a:custGeom>
                <a:avLst/>
                <a:gdLst/>
                <a:ahLst/>
                <a:cxnLst/>
                <a:rect l="l" t="t" r="r" b="b"/>
                <a:pathLst>
                  <a:path w="249886" h="144272">
                    <a:moveTo>
                      <a:pt x="249886" y="36068"/>
                    </a:moveTo>
                    <a:lnTo>
                      <a:pt x="249886" y="108204"/>
                    </a:lnTo>
                    <a:lnTo>
                      <a:pt x="124943" y="144272"/>
                    </a:lnTo>
                    <a:lnTo>
                      <a:pt x="0" y="108204"/>
                    </a:lnTo>
                    <a:lnTo>
                      <a:pt x="0" y="36068"/>
                    </a:lnTo>
                    <a:lnTo>
                      <a:pt x="124943" y="0"/>
                    </a:lnTo>
                    <a:close/>
                  </a:path>
                </a:pathLst>
              </a:custGeom>
              <a:solidFill>
                <a:srgbClr val="B0E1D0"/>
              </a:solidFill>
              <a:ln w="10160">
                <a:solidFill>
                  <a:srgbClr val="CCEC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19" name="Cylinder glass (front)"/>
            <p:cNvSpPr/>
            <p:nvPr/>
          </p:nvSpPr>
          <p:spPr>
            <a:xfrm>
              <a:off x="4780726" y="5859557"/>
              <a:ext cx="2224149" cy="2130837"/>
            </a:xfrm>
            <a:custGeom>
              <a:avLst/>
              <a:gdLst/>
              <a:ahLst/>
              <a:cxnLst/>
              <a:rect l="0" t="0" r="r" b="b"/>
              <a:pathLst>
                <a:path w="2224149" h="2130837">
                  <a:moveTo>
                    <a:pt x="0" y="1574800"/>
                  </a:moveTo>
                  <a:lnTo>
                    <a:pt x="0" y="0"/>
                  </a:ln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  <a:lnTo>
                    <a:pt x="2224149" y="1574800"/>
                  </a:lnTo>
                  <a:cubicBezTo>
                    <a:pt x="2224149" y="1881891"/>
                    <a:pt x="1726256" y="2130837"/>
                    <a:pt x="1112074" y="2130837"/>
                  </a:cubicBezTo>
                  <a:cubicBezTo>
                    <a:pt x="497893" y="2130837"/>
                    <a:pt x="0" y="1881891"/>
                    <a:pt x="0" y="1574800"/>
                  </a:cubicBezTo>
                  <a:close/>
                </a:path>
              </a:pathLst>
            </a:custGeom>
            <a:solidFill>
              <a:srgbClr val="0E9270">
                <a:alpha val="10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Glass highlight"/>
            <p:cNvSpPr/>
            <p:nvPr/>
          </p:nvSpPr>
          <p:spPr>
            <a:xfrm>
              <a:off x="5003141" y="6223659"/>
              <a:ext cx="88966" cy="1566093"/>
            </a:xfrm>
            <a:custGeom>
              <a:avLst/>
              <a:gdLst/>
              <a:ahLst/>
              <a:cxnLst/>
              <a:rect l="l" t="t" r="r" b="b"/>
              <a:pathLst>
                <a:path w="88966" h="1566093">
                  <a:moveTo>
                    <a:pt x="0" y="0"/>
                  </a:moveTo>
                  <a:lnTo>
                    <a:pt x="88966" y="52253"/>
                  </a:lnTo>
                  <a:lnTo>
                    <a:pt x="88966" y="1566093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FFFFFF">
                <a:alpha val="4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1" name="Glass highlight"/>
            <p:cNvSpPr/>
            <p:nvPr/>
          </p:nvSpPr>
          <p:spPr>
            <a:xfrm>
              <a:off x="5158831" y="6307769"/>
              <a:ext cx="33362" cy="1527924"/>
            </a:xfrm>
            <a:custGeom>
              <a:avLst/>
              <a:gdLst/>
              <a:ahLst/>
              <a:cxnLst/>
              <a:rect l="l" t="t" r="r" b="b"/>
              <a:pathLst>
                <a:path w="33362" h="1527924">
                  <a:moveTo>
                    <a:pt x="0" y="0"/>
                  </a:moveTo>
                  <a:lnTo>
                    <a:pt x="33362" y="14084"/>
                  </a:lnTo>
                  <a:lnTo>
                    <a:pt x="33362" y="1527924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FFFFFF">
                <a:alpha val="231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2" name="Rim (front)"/>
            <p:cNvSpPr/>
            <p:nvPr/>
          </p:nvSpPr>
          <p:spPr>
            <a:xfrm>
              <a:off x="4780726" y="5859557"/>
              <a:ext cx="2224149" cy="556037"/>
            </a:xfrm>
            <a:custGeom>
              <a:avLst/>
              <a:gdLst/>
              <a:ahLst/>
              <a:cxnLst/>
              <a:rect l="0" t="0" r="r" b="b"/>
              <a:pathLst>
                <a:path w="2224149" h="556037" fill="none">
                  <a:moveTo>
                    <a:pt x="0" y="0"/>
                  </a:moveTo>
                  <a:cubicBezTo>
                    <a:pt x="0" y="307091"/>
                    <a:pt x="497893" y="556037"/>
                    <a:pt x="1112074" y="556037"/>
                  </a:cubicBezTo>
                  <a:cubicBezTo>
                    <a:pt x="1726256" y="556037"/>
                    <a:pt x="2224149" y="307091"/>
                    <a:pt x="2224149" y="0"/>
                  </a:cubicBezTo>
                </a:path>
              </a:pathLst>
            </a:custGeom>
            <a:noFill/>
            <a:ln w="16256" cap="rnd">
              <a:solidFill>
                <a:srgbClr val="0E9270">
                  <a:alpha val="80000"/>
                </a:srgbClr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Cylinder wall outline"/>
            <p:cNvSpPr/>
            <p:nvPr/>
          </p:nvSpPr>
          <p:spPr>
            <a:xfrm>
              <a:off x="4780726" y="5859557"/>
              <a:ext cx="2224149" cy="2130837"/>
            </a:xfrm>
            <a:custGeom>
              <a:avLst/>
              <a:gdLst/>
              <a:ahLst/>
              <a:cxnLst/>
              <a:rect l="0" t="0" r="r" b="b"/>
              <a:pathLst>
                <a:path w="2224149" h="2130837" fill="none">
                  <a:moveTo>
                    <a:pt x="0" y="0"/>
                  </a:moveTo>
                  <a:lnTo>
                    <a:pt x="0" y="1574800"/>
                  </a:lnTo>
                  <a:cubicBezTo>
                    <a:pt x="0" y="1881891"/>
                    <a:pt x="497893" y="2130837"/>
                    <a:pt x="1112074" y="2130837"/>
                  </a:cubicBezTo>
                  <a:cubicBezTo>
                    <a:pt x="1726256" y="2130837"/>
                    <a:pt x="2224149" y="1881891"/>
                    <a:pt x="2224149" y="1574800"/>
                  </a:cubicBezTo>
                  <a:lnTo>
                    <a:pt x="2224149" y="0"/>
                  </a:lnTo>
                </a:path>
              </a:pathLst>
            </a:custGeom>
            <a:noFill/>
            <a:ln w="16256" cap="rnd">
              <a:solidFill>
                <a:srgbClr val="0E9270">
                  <a:alpha val="80000"/>
                </a:srgbClr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24" name="Inputs"/>
          <p:cNvGrpSpPr/>
          <p:nvPr/>
        </p:nvGrpSpPr>
        <p:grpSpPr>
          <a:xfrm>
            <a:off x="4165600" y="5958840"/>
            <a:ext cx="1422400" cy="1056640"/>
            <a:chOff x="3200400" y="5730240"/>
            <a:chExt cx="1422400" cy="1056640"/>
          </a:xfrm>
        </p:grpSpPr>
        <p:sp>
          <p:nvSpPr>
            <p:cNvPr id="225" name="Icon tile"/>
            <p:cNvSpPr/>
            <p:nvPr/>
          </p:nvSpPr>
          <p:spPr>
            <a:xfrm>
              <a:off x="3667760" y="5730240"/>
              <a:ext cx="487680" cy="487680"/>
            </a:xfrm>
            <a:prstGeom prst="roundRect">
              <a:avLst>
                <a:gd name="adj" fmla="val 25000"/>
              </a:avLst>
            </a:prstGeom>
            <a:solidFill>
              <a:srgbClr val="D3EF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26" name="Icon: inputs"/>
            <p:cNvGrpSpPr/>
            <p:nvPr/>
          </p:nvGrpSpPr>
          <p:grpSpPr>
            <a:xfrm>
              <a:off x="3789680" y="5856849"/>
              <a:ext cx="243840" cy="234462"/>
              <a:chOff x="3789680" y="5856849"/>
              <a:chExt cx="243840" cy="234462"/>
            </a:xfrm>
          </p:grpSpPr>
          <p:cxnSp>
            <p:nvCxnSpPr>
              <p:cNvPr id="227" name="Slider track"/>
              <p:cNvCxnSpPr/>
              <p:nvPr/>
            </p:nvCxnSpPr>
            <p:spPr>
              <a:xfrm>
                <a:off x="3789680" y="5889674"/>
                <a:ext cx="243840" cy="0"/>
              </a:xfrm>
              <a:prstGeom prst="line">
                <a:avLst/>
              </a:prstGeom>
              <a:ln w="20633" cap="rnd">
                <a:solidFill>
                  <a:srgbClr val="0E9270"/>
                </a:solidFill>
              </a:ln>
              <a:effectLst/>
            </p:spPr>
          </p:cxnSp>
          <p:sp>
            <p:nvSpPr>
              <p:cNvPr id="228" name="Slider knob"/>
              <p:cNvSpPr/>
              <p:nvPr/>
            </p:nvSpPr>
            <p:spPr>
              <a:xfrm>
                <a:off x="3925668" y="5856849"/>
                <a:ext cx="65649" cy="65649"/>
              </a:xfrm>
              <a:prstGeom prst="ellipse">
                <a:avLst/>
              </a:prstGeom>
              <a:solidFill>
                <a:srgbClr val="D3EFE4"/>
              </a:solidFill>
              <a:ln w="20633">
                <a:solidFill>
                  <a:srgbClr val="0E927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29" name="Slider track"/>
              <p:cNvCxnSpPr/>
              <p:nvPr/>
            </p:nvCxnSpPr>
            <p:spPr>
              <a:xfrm>
                <a:off x="3789680" y="5974080"/>
                <a:ext cx="243840" cy="0"/>
              </a:xfrm>
              <a:prstGeom prst="line">
                <a:avLst/>
              </a:prstGeom>
              <a:ln w="20633" cap="rnd">
                <a:solidFill>
                  <a:srgbClr val="0E9270"/>
                </a:solidFill>
              </a:ln>
              <a:effectLst/>
            </p:spPr>
          </p:cxnSp>
          <p:sp>
            <p:nvSpPr>
              <p:cNvPr id="230" name="Slider knob"/>
              <p:cNvSpPr/>
              <p:nvPr/>
            </p:nvSpPr>
            <p:spPr>
              <a:xfrm>
                <a:off x="3822505" y="5941255"/>
                <a:ext cx="65649" cy="65649"/>
              </a:xfrm>
              <a:prstGeom prst="ellipse">
                <a:avLst/>
              </a:prstGeom>
              <a:solidFill>
                <a:srgbClr val="D3EFE4"/>
              </a:solidFill>
              <a:ln w="20633">
                <a:solidFill>
                  <a:srgbClr val="0E927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31" name="Slider track"/>
              <p:cNvCxnSpPr/>
              <p:nvPr/>
            </p:nvCxnSpPr>
            <p:spPr>
              <a:xfrm>
                <a:off x="3789680" y="6058486"/>
                <a:ext cx="243840" cy="0"/>
              </a:xfrm>
              <a:prstGeom prst="line">
                <a:avLst/>
              </a:prstGeom>
              <a:ln w="20633" cap="rnd">
                <a:solidFill>
                  <a:srgbClr val="0E9270"/>
                </a:solidFill>
              </a:ln>
              <a:effectLst/>
            </p:spPr>
          </p:cxnSp>
          <p:sp>
            <p:nvSpPr>
              <p:cNvPr id="232" name="Slider knob"/>
              <p:cNvSpPr/>
              <p:nvPr/>
            </p:nvSpPr>
            <p:spPr>
              <a:xfrm>
                <a:off x="3944425" y="6025662"/>
                <a:ext cx="65649" cy="65649"/>
              </a:xfrm>
              <a:prstGeom prst="ellipse">
                <a:avLst/>
              </a:prstGeom>
              <a:solidFill>
                <a:srgbClr val="D3EFE4"/>
              </a:solidFill>
              <a:ln w="20633">
                <a:solidFill>
                  <a:srgbClr val="0E927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33" name="Label"/>
            <p:cNvSpPr txBox="1"/>
            <p:nvPr/>
          </p:nvSpPr>
          <p:spPr>
            <a:xfrm>
              <a:off x="3200400" y="6278880"/>
              <a:ext cx="1422400" cy="508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20" b="1">
                  <a:solidFill>
                    <a:srgbClr val="172033"/>
                  </a:solidFill>
                  <a:latin typeface="Arial"/>
                </a:rPr>
                <a:t>Inputs</a:t>
              </a:r>
            </a:p>
            <a:p>
              <a:pPr algn="ctr"/>
              <a:r>
                <a:rPr sz="960">
                  <a:solidFill>
                    <a:srgbClr val="5A6578"/>
                  </a:solidFill>
                  <a:latin typeface="Arial"/>
                </a:rPr>
                <a:t>Settings and</a:t>
              </a:r>
            </a:p>
            <a:p>
              <a:pPr algn="ctr"/>
              <a:r>
                <a:rPr sz="960">
                  <a:solidFill>
                    <a:srgbClr val="5A6578"/>
                  </a:solidFill>
                  <a:latin typeface="Arial"/>
                </a:rPr>
                <a:t>Blueprints</a:t>
              </a:r>
            </a:p>
          </p:txBody>
        </p:sp>
      </p:grpSp>
      <p:grpSp>
        <p:nvGrpSpPr>
          <p:cNvPr id="234" name="Visualization"/>
          <p:cNvGrpSpPr/>
          <p:nvPr/>
        </p:nvGrpSpPr>
        <p:grpSpPr>
          <a:xfrm>
            <a:off x="965200" y="228600"/>
            <a:ext cx="8585200" cy="6786880"/>
            <a:chOff x="0" y="0"/>
            <a:chExt cx="8585200" cy="6786880"/>
          </a:xfrm>
        </p:grpSpPr>
        <p:sp>
          <p:nvSpPr>
            <p:cNvPr id="235" name="Icon tile"/>
            <p:cNvSpPr/>
            <p:nvPr/>
          </p:nvSpPr>
          <p:spPr>
            <a:xfrm>
              <a:off x="7630160" y="5730240"/>
              <a:ext cx="487680" cy="487680"/>
            </a:xfrm>
            <a:prstGeom prst="roundRect">
              <a:avLst>
                <a:gd name="adj" fmla="val 25000"/>
              </a:avLst>
            </a:prstGeom>
            <a:solidFill>
              <a:srgbClr val="D3EF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36" name="Icon: viz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7" name="Cell"/>
              <p:cNvSpPr/>
              <p:nvPr/>
            </p:nvSpPr>
            <p:spPr>
              <a:xfrm>
                <a:off x="7830953" y="5924374"/>
                <a:ext cx="86094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4" h="99412">
                    <a:moveTo>
                      <a:pt x="86094" y="24853"/>
                    </a:moveTo>
                    <a:lnTo>
                      <a:pt x="86094" y="74559"/>
                    </a:lnTo>
                    <a:lnTo>
                      <a:pt x="43047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7" y="0"/>
                    </a:lnTo>
                    <a:close/>
                  </a:path>
                </a:pathLst>
              </a:custGeom>
              <a:solidFill>
                <a:srgbClr val="DE3B3B"/>
              </a:solidFill>
              <a:ln w="15006">
                <a:solidFill>
                  <a:srgbClr val="DE3B3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8" name="Cell"/>
              <p:cNvSpPr/>
              <p:nvPr/>
            </p:nvSpPr>
            <p:spPr>
              <a:xfrm>
                <a:off x="7926614" y="5924374"/>
                <a:ext cx="86093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3" h="99412">
                    <a:moveTo>
                      <a:pt x="86093" y="24853"/>
                    </a:moveTo>
                    <a:lnTo>
                      <a:pt x="86093" y="74559"/>
                    </a:lnTo>
                    <a:lnTo>
                      <a:pt x="43046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6" y="0"/>
                    </a:lnTo>
                    <a:close/>
                  </a:path>
                </a:pathLst>
              </a:custGeom>
              <a:solidFill>
                <a:srgbClr val="F28C28"/>
              </a:solidFill>
              <a:ln w="15006">
                <a:solidFill>
                  <a:srgbClr val="F28C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9" name="Cell"/>
              <p:cNvSpPr/>
              <p:nvPr/>
            </p:nvSpPr>
            <p:spPr>
              <a:xfrm>
                <a:off x="7878784" y="6007218"/>
                <a:ext cx="86093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3" h="99412">
                    <a:moveTo>
                      <a:pt x="86093" y="24853"/>
                    </a:moveTo>
                    <a:lnTo>
                      <a:pt x="86093" y="74559"/>
                    </a:lnTo>
                    <a:lnTo>
                      <a:pt x="43046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6" y="0"/>
                    </a:lnTo>
                    <a:close/>
                  </a:path>
                </a:pathLst>
              </a:custGeom>
              <a:solidFill>
                <a:srgbClr val="F2D024"/>
              </a:solidFill>
              <a:ln w="15006">
                <a:solidFill>
                  <a:srgbClr val="F2D02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0" name="Cell"/>
              <p:cNvSpPr/>
              <p:nvPr/>
            </p:nvSpPr>
            <p:spPr>
              <a:xfrm>
                <a:off x="7783123" y="6007218"/>
                <a:ext cx="86093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3" h="99412">
                    <a:moveTo>
                      <a:pt x="86093" y="24853"/>
                    </a:moveTo>
                    <a:lnTo>
                      <a:pt x="86093" y="74559"/>
                    </a:lnTo>
                    <a:lnTo>
                      <a:pt x="43047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7" y="0"/>
                    </a:lnTo>
                    <a:close/>
                  </a:path>
                </a:pathLst>
              </a:custGeom>
              <a:solidFill>
                <a:srgbClr val="5CC26B"/>
              </a:solidFill>
              <a:ln w="15006">
                <a:solidFill>
                  <a:srgbClr val="5CC2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1" name="Cell"/>
              <p:cNvSpPr/>
              <p:nvPr/>
            </p:nvSpPr>
            <p:spPr>
              <a:xfrm>
                <a:off x="7735293" y="5924374"/>
                <a:ext cx="86093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3" h="99412">
                    <a:moveTo>
                      <a:pt x="86093" y="24853"/>
                    </a:moveTo>
                    <a:lnTo>
                      <a:pt x="86093" y="74559"/>
                    </a:lnTo>
                    <a:lnTo>
                      <a:pt x="43047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7" y="0"/>
                    </a:lnTo>
                    <a:close/>
                  </a:path>
                </a:pathLst>
              </a:custGeom>
              <a:solidFill>
                <a:srgbClr val="2EB6C9"/>
              </a:solidFill>
              <a:ln w="15006">
                <a:solidFill>
                  <a:srgbClr val="2EB6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2" name="Cell"/>
              <p:cNvSpPr/>
              <p:nvPr/>
            </p:nvSpPr>
            <p:spPr>
              <a:xfrm>
                <a:off x="7783123" y="5841530"/>
                <a:ext cx="86093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3" h="99412">
                    <a:moveTo>
                      <a:pt x="86093" y="24853"/>
                    </a:moveTo>
                    <a:lnTo>
                      <a:pt x="86093" y="74559"/>
                    </a:lnTo>
                    <a:lnTo>
                      <a:pt x="43047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7" y="0"/>
                    </a:lnTo>
                    <a:close/>
                  </a:path>
                </a:pathLst>
              </a:custGeom>
              <a:solidFill>
                <a:srgbClr val="3560DA"/>
              </a:solidFill>
              <a:ln w="15006">
                <a:solidFill>
                  <a:srgbClr val="3560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3" name="Cell"/>
              <p:cNvSpPr/>
              <p:nvPr/>
            </p:nvSpPr>
            <p:spPr>
              <a:xfrm>
                <a:off x="7878784" y="5841530"/>
                <a:ext cx="86093" cy="99412"/>
              </a:xfrm>
              <a:custGeom>
                <a:avLst/>
                <a:gdLst/>
                <a:ahLst/>
                <a:cxnLst/>
                <a:rect l="l" t="t" r="r" b="b"/>
                <a:pathLst>
                  <a:path w="86093" h="99412">
                    <a:moveTo>
                      <a:pt x="86093" y="24853"/>
                    </a:moveTo>
                    <a:lnTo>
                      <a:pt x="86093" y="74559"/>
                    </a:lnTo>
                    <a:lnTo>
                      <a:pt x="43046" y="99412"/>
                    </a:lnTo>
                    <a:lnTo>
                      <a:pt x="0" y="74559"/>
                    </a:lnTo>
                    <a:lnTo>
                      <a:pt x="0" y="24853"/>
                    </a:lnTo>
                    <a:lnTo>
                      <a:pt x="43046" y="0"/>
                    </a:lnTo>
                    <a:close/>
                  </a:path>
                </a:pathLst>
              </a:custGeom>
              <a:solidFill>
                <a:srgbClr val="A5D24A"/>
              </a:solidFill>
              <a:ln w="15006">
                <a:solidFill>
                  <a:srgbClr val="A5D24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44" name="Label"/>
            <p:cNvSpPr txBox="1"/>
            <p:nvPr/>
          </p:nvSpPr>
          <p:spPr>
            <a:xfrm>
              <a:off x="7162800" y="6278880"/>
              <a:ext cx="1422400" cy="508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20" b="1">
                  <a:solidFill>
                    <a:srgbClr val="172033"/>
                  </a:solidFill>
                  <a:latin typeface="Arial"/>
                </a:rPr>
                <a:t>Visualization</a:t>
              </a:r>
            </a:p>
          </p:txBody>
        </p:sp>
      </p:grpSp>
      <p:grpSp>
        <p:nvGrpSpPr>
          <p:cNvPr id="245" name="Database"/>
          <p:cNvGrpSpPr/>
          <p:nvPr/>
        </p:nvGrpSpPr>
        <p:grpSpPr>
          <a:xfrm>
            <a:off x="6146800" y="8823960"/>
            <a:ext cx="1422400" cy="1056640"/>
            <a:chOff x="5181600" y="8595360"/>
            <a:chExt cx="1422400" cy="1056640"/>
          </a:xfrm>
        </p:grpSpPr>
        <p:sp>
          <p:nvSpPr>
            <p:cNvPr id="246" name="Icon tile"/>
            <p:cNvSpPr/>
            <p:nvPr/>
          </p:nvSpPr>
          <p:spPr>
            <a:xfrm>
              <a:off x="5648960" y="8595360"/>
              <a:ext cx="487680" cy="487680"/>
            </a:xfrm>
            <a:prstGeom prst="roundRect">
              <a:avLst>
                <a:gd name="adj" fmla="val 25000"/>
              </a:avLst>
            </a:prstGeom>
            <a:solidFill>
              <a:srgbClr val="D3EF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47" name="Icon: database"/>
            <p:cNvGrpSpPr/>
            <p:nvPr/>
          </p:nvGrpSpPr>
          <p:grpSpPr>
            <a:xfrm>
              <a:off x="5794326" y="8715404"/>
              <a:ext cx="196948" cy="247592"/>
              <a:chOff x="5794326" y="8715404"/>
              <a:chExt cx="196948" cy="247592"/>
            </a:xfrm>
          </p:grpSpPr>
          <p:sp>
            <p:nvSpPr>
              <p:cNvPr id="248" name="Top"/>
              <p:cNvSpPr/>
              <p:nvPr/>
            </p:nvSpPr>
            <p:spPr>
              <a:xfrm>
                <a:off x="5794326" y="8715404"/>
                <a:ext cx="196948" cy="78779"/>
              </a:xfrm>
              <a:prstGeom prst="ellipse">
                <a:avLst/>
              </a:prstGeom>
              <a:noFill/>
              <a:ln w="20633">
                <a:solidFill>
                  <a:srgbClr val="0E927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9" name="Body"/>
              <p:cNvSpPr/>
              <p:nvPr/>
            </p:nvSpPr>
            <p:spPr>
              <a:xfrm>
                <a:off x="5794326" y="8754794"/>
                <a:ext cx="196948" cy="208202"/>
              </a:xfrm>
              <a:custGeom>
                <a:avLst/>
                <a:gdLst/>
                <a:ahLst/>
                <a:cxnLst/>
                <a:rect l="0" t="0" r="r" b="b"/>
                <a:pathLst>
                  <a:path w="196948" h="208202" fill="none">
                    <a:moveTo>
                      <a:pt x="0" y="0"/>
                    </a:moveTo>
                    <a:lnTo>
                      <a:pt x="0" y="168812"/>
                    </a:lnTo>
                    <a:cubicBezTo>
                      <a:pt x="0" y="190567"/>
                      <a:pt x="44087" y="208202"/>
                      <a:pt x="98474" y="208202"/>
                    </a:cubicBezTo>
                    <a:cubicBezTo>
                      <a:pt x="152861" y="208202"/>
                      <a:pt x="196948" y="190567"/>
                      <a:pt x="196948" y="168812"/>
                    </a:cubicBezTo>
                    <a:lnTo>
                      <a:pt x="196948" y="0"/>
                    </a:lnTo>
                  </a:path>
                </a:pathLst>
              </a:custGeom>
              <a:noFill/>
              <a:ln w="20633" cap="rnd">
                <a:solidFill>
                  <a:srgbClr val="0E92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0" name="Band"/>
              <p:cNvSpPr/>
              <p:nvPr/>
            </p:nvSpPr>
            <p:spPr>
              <a:xfrm>
                <a:off x="5794326" y="8839200"/>
                <a:ext cx="196948" cy="39390"/>
              </a:xfrm>
              <a:custGeom>
                <a:avLst/>
                <a:gdLst/>
                <a:ahLst/>
                <a:cxnLst/>
                <a:rect l="0" t="0" r="r" b="b"/>
                <a:pathLst>
                  <a:path w="196948" h="39390" fill="none">
                    <a:moveTo>
                      <a:pt x="0" y="0"/>
                    </a:moveTo>
                    <a:cubicBezTo>
                      <a:pt x="0" y="21755"/>
                      <a:pt x="44087" y="39390"/>
                      <a:pt x="98474" y="39390"/>
                    </a:cubicBezTo>
                    <a:cubicBezTo>
                      <a:pt x="152861" y="39390"/>
                      <a:pt x="196948" y="21755"/>
                      <a:pt x="196948" y="0"/>
                    </a:cubicBezTo>
                  </a:path>
                </a:pathLst>
              </a:custGeom>
              <a:noFill/>
              <a:ln w="17819" cap="rnd">
                <a:solidFill>
                  <a:srgbClr val="0E927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1" name="Label"/>
            <p:cNvSpPr txBox="1"/>
            <p:nvPr/>
          </p:nvSpPr>
          <p:spPr>
            <a:xfrm>
              <a:off x="5181600" y="9144000"/>
              <a:ext cx="1422400" cy="508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120" b="1">
                  <a:solidFill>
                    <a:srgbClr val="172033"/>
                  </a:solidFill>
                  <a:latin typeface="Arial"/>
                </a:rPr>
                <a:t>Database</a:t>
              </a:r>
            </a:p>
          </p:txBody>
        </p:sp>
      </p:grpSp>
      <p:cxnSp>
        <p:nvCxnSpPr>
          <p:cNvPr id="252" name="Link: Inputs - Reactor Model"/>
          <p:cNvCxnSpPr/>
          <p:nvPr/>
        </p:nvCxnSpPr>
        <p:spPr>
          <a:xfrm>
            <a:off x="5181600" y="6202680"/>
            <a:ext cx="548640" cy="0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cxnSp>
        <p:nvCxnSpPr>
          <p:cNvPr id="253" name="Link: Visualization - Reactor Model"/>
          <p:cNvCxnSpPr/>
          <p:nvPr/>
        </p:nvCxnSpPr>
        <p:spPr>
          <a:xfrm flipH="1">
            <a:off x="7985760" y="6202680"/>
            <a:ext cx="548640" cy="0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cxnSp>
        <p:nvCxnSpPr>
          <p:cNvPr id="254" name="Link: Database - Reactor Model"/>
          <p:cNvCxnSpPr/>
          <p:nvPr/>
        </p:nvCxnSpPr>
        <p:spPr>
          <a:xfrm>
            <a:off x="6858000" y="8356600"/>
            <a:ext cx="0" cy="426720"/>
          </a:xfrm>
          <a:prstGeom prst="line">
            <a:avLst/>
          </a:prstGeom>
          <a:ln w="20320">
            <a:solidFill>
              <a:srgbClr val="3B475A"/>
            </a:solidFill>
            <a:headEnd type="triangle" w="lg" len="lg"/>
            <a:tailEnd type="triangle" w="lg" len="lg"/>
          </a:ln>
          <a:effectLst/>
        </p:spPr>
      </p:cxnSp>
      <p:grpSp>
        <p:nvGrpSpPr>
          <p:cNvPr id="262" name="Tag: ARMI Framework"/>
          <p:cNvGrpSpPr/>
          <p:nvPr/>
        </p:nvGrpSpPr>
        <p:grpSpPr>
          <a:xfrm>
            <a:off x="5953760" y="4089400"/>
            <a:ext cx="1808480" cy="304800"/>
            <a:chOff x="4988560" y="3860800"/>
            <a:chExt cx="1808480" cy="304800"/>
          </a:xfrm>
        </p:grpSpPr>
        <p:sp>
          <p:nvSpPr>
            <p:cNvPr id="263" name="Pill"/>
            <p:cNvSpPr/>
            <p:nvPr/>
          </p:nvSpPr>
          <p:spPr>
            <a:xfrm>
              <a:off x="4988560" y="3860800"/>
              <a:ext cx="180848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6256">
              <a:solidFill>
                <a:srgbClr val="0E9270"/>
              </a:solidFill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sz="1360" b="1" dirty="0">
                  <a:solidFill>
                    <a:srgbClr val="0A6A51"/>
                  </a:solidFill>
                  <a:latin typeface="Arial"/>
                </a:rPr>
                <a:t>ARMI</a:t>
              </a:r>
              <a:r>
                <a:rPr lang="en-US" dirty="0">
                  <a:solidFill>
                    <a:srgbClr val="0A6A51"/>
                  </a:solidFill>
                </a:rPr>
                <a:t>®</a:t>
              </a:r>
              <a:r>
                <a:rPr sz="1360" b="1" dirty="0">
                  <a:solidFill>
                    <a:srgbClr val="0A6A51"/>
                  </a:solidFill>
                  <a:latin typeface="Arial"/>
                </a:rPr>
                <a:t> Framework</a:t>
              </a:r>
            </a:p>
          </p:txBody>
        </p:sp>
      </p:grpSp>
      <p:grpSp>
        <p:nvGrpSpPr>
          <p:cNvPr id="264" name="Tag: ARMI Plugins"/>
          <p:cNvGrpSpPr/>
          <p:nvPr/>
        </p:nvGrpSpPr>
        <p:grpSpPr>
          <a:xfrm>
            <a:off x="6096000" y="2819400"/>
            <a:ext cx="1524000" cy="304800"/>
            <a:chOff x="5130800" y="2590800"/>
            <a:chExt cx="1524000" cy="304800"/>
          </a:xfrm>
        </p:grpSpPr>
        <p:sp>
          <p:nvSpPr>
            <p:cNvPr id="265" name="Pill"/>
            <p:cNvSpPr/>
            <p:nvPr/>
          </p:nvSpPr>
          <p:spPr>
            <a:xfrm>
              <a:off x="5130800" y="2590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6256">
              <a:solidFill>
                <a:srgbClr val="BF5F7F"/>
              </a:solidFill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sz="1360" b="1" dirty="0">
                  <a:solidFill>
                    <a:srgbClr val="BF5F7F"/>
                  </a:solidFill>
                  <a:latin typeface="Arial"/>
                </a:rPr>
                <a:t>ARMI</a:t>
              </a:r>
              <a:r>
                <a:rPr lang="en-US" sz="1400" dirty="0">
                  <a:solidFill>
                    <a:srgbClr val="BF5F7F"/>
                  </a:solidFill>
                </a:rPr>
                <a:t>®</a:t>
              </a:r>
              <a:r>
                <a:rPr sz="1360" b="1" dirty="0">
                  <a:solidFill>
                    <a:srgbClr val="BF5F7F"/>
                  </a:solidFill>
                  <a:latin typeface="Arial"/>
                </a:rPr>
                <a:t> Plugins</a:t>
              </a:r>
            </a:p>
          </p:txBody>
        </p:sp>
      </p:grpSp>
      <p:grpSp>
        <p:nvGrpSpPr>
          <p:cNvPr id="266" name="Tag: ARMI-based Application"/>
          <p:cNvGrpSpPr/>
          <p:nvPr/>
        </p:nvGrpSpPr>
        <p:grpSpPr>
          <a:xfrm>
            <a:off x="5288280" y="2173339"/>
            <a:ext cx="3139440" cy="377276"/>
            <a:chOff x="4490720" y="1625600"/>
            <a:chExt cx="2804160" cy="304800"/>
          </a:xfrm>
        </p:grpSpPr>
        <p:sp>
          <p:nvSpPr>
            <p:cNvPr id="267" name="Pill"/>
            <p:cNvSpPr/>
            <p:nvPr/>
          </p:nvSpPr>
          <p:spPr>
            <a:xfrm>
              <a:off x="4490720" y="1625600"/>
              <a:ext cx="280416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6256">
              <a:solidFill>
                <a:srgbClr val="BF5F7F"/>
              </a:solidFill>
              <a:custDash>
                <a:ds d="312500" sp="250000"/>
              </a:custDash>
            </a:ln>
            <a:effectLst/>
          </p:spPr>
          <p:txBody>
            <a:bodyPr wrap="none" lIns="243840" tIns="0" rIns="0" bIns="0" rtlCol="0" anchor="ctr">
              <a:noAutofit/>
            </a:bodyPr>
            <a:lstStyle/>
            <a:p>
              <a:pPr algn="ctr"/>
              <a:r>
                <a:rPr lang="en-US" sz="1360" b="1" dirty="0">
                  <a:solidFill>
                    <a:srgbClr val="BF5F7F"/>
                  </a:solidFill>
                  <a:latin typeface="Arial"/>
                </a:rPr>
                <a:t>Your </a:t>
              </a:r>
              <a:r>
                <a:rPr sz="1360" b="1" dirty="0">
                  <a:solidFill>
                    <a:srgbClr val="BF5F7F"/>
                  </a:solidFill>
                  <a:latin typeface="Arial"/>
                </a:rPr>
                <a:t>ARMI-based Application</a:t>
              </a:r>
            </a:p>
          </p:txBody>
        </p:sp>
        <p:grpSp>
          <p:nvGrpSpPr>
            <p:cNvPr id="268" name="Icon: application (cube)"/>
            <p:cNvGrpSpPr/>
            <p:nvPr/>
          </p:nvGrpSpPr>
          <p:grpSpPr>
            <a:xfrm>
              <a:off x="4639450" y="1691640"/>
              <a:ext cx="149580" cy="172720"/>
              <a:chOff x="4639450" y="1691640"/>
              <a:chExt cx="149580" cy="172720"/>
            </a:xfrm>
          </p:grpSpPr>
          <p:sp>
            <p:nvSpPr>
              <p:cNvPr id="269" name="Cube outline"/>
              <p:cNvSpPr/>
              <p:nvPr/>
            </p:nvSpPr>
            <p:spPr>
              <a:xfrm>
                <a:off x="4639450" y="1691640"/>
                <a:ext cx="149580" cy="172720"/>
              </a:xfrm>
              <a:custGeom>
                <a:avLst/>
                <a:gdLst/>
                <a:ahLst/>
                <a:cxnLst/>
                <a:rect l="l" t="t" r="r" b="b"/>
                <a:pathLst>
                  <a:path w="149580" h="172720">
                    <a:moveTo>
                      <a:pt x="149580" y="43180"/>
                    </a:moveTo>
                    <a:lnTo>
                      <a:pt x="149580" y="129540"/>
                    </a:lnTo>
                    <a:lnTo>
                      <a:pt x="74790" y="172720"/>
                    </a:lnTo>
                    <a:lnTo>
                      <a:pt x="0" y="129540"/>
                    </a:lnTo>
                    <a:lnTo>
                      <a:pt x="0" y="43180"/>
                    </a:lnTo>
                    <a:lnTo>
                      <a:pt x="74790" y="0"/>
                    </a:lnTo>
                    <a:close/>
                  </a:path>
                </a:pathLst>
              </a:custGeom>
              <a:noFill/>
              <a:ln w="16256">
                <a:solidFill>
                  <a:srgbClr val="BF5F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70" name="Cube edge"/>
              <p:cNvCxnSpPr/>
              <p:nvPr/>
            </p:nvCxnSpPr>
            <p:spPr>
              <a:xfrm flipV="1">
                <a:off x="4714240" y="1734820"/>
                <a:ext cx="74790" cy="43180"/>
              </a:xfrm>
              <a:prstGeom prst="line">
                <a:avLst/>
              </a:prstGeom>
              <a:ln w="16256" cap="rnd">
                <a:solidFill>
                  <a:srgbClr val="BF5F7F"/>
                </a:solidFill>
              </a:ln>
              <a:effectLst/>
            </p:spPr>
          </p:cxnSp>
          <p:cxnSp>
            <p:nvCxnSpPr>
              <p:cNvPr id="271" name="Cube edge"/>
              <p:cNvCxnSpPr/>
              <p:nvPr/>
            </p:nvCxnSpPr>
            <p:spPr>
              <a:xfrm>
                <a:off x="4714240" y="1778000"/>
                <a:ext cx="0" cy="86360"/>
              </a:xfrm>
              <a:prstGeom prst="line">
                <a:avLst/>
              </a:prstGeom>
              <a:ln w="16256" cap="rnd">
                <a:solidFill>
                  <a:srgbClr val="BF5F7F"/>
                </a:solidFill>
              </a:ln>
              <a:effectLst/>
            </p:spPr>
          </p:cxnSp>
          <p:cxnSp>
            <p:nvCxnSpPr>
              <p:cNvPr id="272" name="Cube edge"/>
              <p:cNvCxnSpPr/>
              <p:nvPr/>
            </p:nvCxnSpPr>
            <p:spPr>
              <a:xfrm flipH="1" flipV="1">
                <a:off x="4639450" y="1734820"/>
                <a:ext cx="74790" cy="43180"/>
              </a:xfrm>
              <a:prstGeom prst="line">
                <a:avLst/>
              </a:prstGeom>
              <a:ln w="16256" cap="rnd">
                <a:solidFill>
                  <a:srgbClr val="BF5F7F"/>
                </a:solidFill>
              </a:ln>
              <a:effectLst/>
            </p:spPr>
          </p:cxnSp>
        </p:grpSp>
      </p:grpSp>
      <p:sp>
        <p:nvSpPr>
          <p:cNvPr id="260" name="Pill">
            <a:extLst>
              <a:ext uri="{FF2B5EF4-FFF2-40B4-BE49-F238E27FC236}">
                <a16:creationId xmlns:a16="http://schemas.microsoft.com/office/drawing/2014/main" id="{1098A290-D16A-25AB-9F02-0AFE0913891F}"/>
              </a:ext>
            </a:extLst>
          </p:cNvPr>
          <p:cNvSpPr/>
          <p:nvPr/>
        </p:nvSpPr>
        <p:spPr>
          <a:xfrm>
            <a:off x="5703863" y="1060505"/>
            <a:ext cx="2308274" cy="3047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256">
            <a:solidFill>
              <a:srgbClr val="1F4EAD"/>
            </a:solidFill>
            <a:prstDash val="dash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60" b="1" dirty="0">
                <a:solidFill>
                  <a:srgbClr val="1F4EAD"/>
                </a:solidFill>
                <a:latin typeface="Arial"/>
              </a:rPr>
              <a:t>External</a:t>
            </a:r>
            <a:r>
              <a:rPr lang="en-US" sz="136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</a:rPr>
              <a:t> </a:t>
            </a:r>
            <a:r>
              <a:rPr lang="en-US" sz="1360" b="1" dirty="0">
                <a:solidFill>
                  <a:srgbClr val="1F4EAD"/>
                </a:solidFill>
                <a:latin typeface="Arial"/>
              </a:rPr>
              <a:t>Physics</a:t>
            </a:r>
            <a:r>
              <a:rPr lang="en-US" sz="136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</a:rPr>
              <a:t> </a:t>
            </a:r>
            <a:r>
              <a:rPr lang="en-US" sz="1360" b="1" dirty="0">
                <a:solidFill>
                  <a:srgbClr val="1F4EAD"/>
                </a:solidFill>
                <a:latin typeface="Arial"/>
              </a:rPr>
              <a:t>Kernels</a:t>
            </a:r>
          </a:p>
        </p:txBody>
      </p:sp>
      <p:grpSp>
        <p:nvGrpSpPr>
          <p:cNvPr id="274" name="Plugin: Neutronics">
            <a:extLst>
              <a:ext uri="{FF2B5EF4-FFF2-40B4-BE49-F238E27FC236}">
                <a16:creationId xmlns:a16="http://schemas.microsoft.com/office/drawing/2014/main" id="{465A278D-E45F-4A8F-1B02-60E8F1BD5B45}"/>
              </a:ext>
            </a:extLst>
          </p:cNvPr>
          <p:cNvGrpSpPr/>
          <p:nvPr/>
        </p:nvGrpSpPr>
        <p:grpSpPr>
          <a:xfrm>
            <a:off x="6273759" y="12227560"/>
            <a:ext cx="1111282" cy="1090259"/>
            <a:chOff x="7325360" y="2651045"/>
            <a:chExt cx="1300480" cy="1300480"/>
          </a:xfrm>
        </p:grpSpPr>
        <p:sp>
          <p:nvSpPr>
            <p:cNvPr id="275" name="Node">
              <a:extLst>
                <a:ext uri="{FF2B5EF4-FFF2-40B4-BE49-F238E27FC236}">
                  <a16:creationId xmlns:a16="http://schemas.microsoft.com/office/drawing/2014/main" id="{25208A77-0B76-6C0D-D7A0-F221F0A691EF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9" name="Label">
              <a:extLst>
                <a:ext uri="{FF2B5EF4-FFF2-40B4-BE49-F238E27FC236}">
                  <a16:creationId xmlns:a16="http://schemas.microsoft.com/office/drawing/2014/main" id="{953E15A2-15B9-E1B9-FE90-014D79158E44}"/>
                </a:ext>
              </a:extLst>
            </p:cNvPr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MC2-3</a:t>
              </a:r>
            </a:p>
          </p:txBody>
        </p:sp>
      </p:grpSp>
      <p:pic>
        <p:nvPicPr>
          <p:cNvPr id="290" name="Picture 289">
            <a:extLst>
              <a:ext uri="{FF2B5EF4-FFF2-40B4-BE49-F238E27FC236}">
                <a16:creationId xmlns:a16="http://schemas.microsoft.com/office/drawing/2014/main" id="{FFD0FC10-F2A4-0204-7C45-70D0BA44E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70" y="12377643"/>
            <a:ext cx="457200" cy="457200"/>
          </a:xfrm>
          <a:prstGeom prst="rect">
            <a:avLst/>
          </a:prstGeom>
        </p:spPr>
      </p:pic>
      <p:cxnSp>
        <p:nvCxnSpPr>
          <p:cNvPr id="281" name="Link: Neutronics - Physics Kernels">
            <a:extLst>
              <a:ext uri="{FF2B5EF4-FFF2-40B4-BE49-F238E27FC236}">
                <a16:creationId xmlns:a16="http://schemas.microsoft.com/office/drawing/2014/main" id="{52460411-D2AB-E85E-EBAD-FA19C3F00D08}"/>
              </a:ext>
            </a:extLst>
          </p:cNvPr>
          <p:cNvCxnSpPr>
            <a:cxnSpLocks/>
          </p:cNvCxnSpPr>
          <p:nvPr/>
        </p:nvCxnSpPr>
        <p:spPr>
          <a:xfrm flipV="1">
            <a:off x="6858000" y="11854363"/>
            <a:ext cx="3743" cy="483837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grpSp>
        <p:nvGrpSpPr>
          <p:cNvPr id="288" name="Plugin: Neutronics">
            <a:extLst>
              <a:ext uri="{FF2B5EF4-FFF2-40B4-BE49-F238E27FC236}">
                <a16:creationId xmlns:a16="http://schemas.microsoft.com/office/drawing/2014/main" id="{7ABAB9AE-6DF7-7A80-BDFA-D844714FD4F5}"/>
              </a:ext>
            </a:extLst>
          </p:cNvPr>
          <p:cNvGrpSpPr/>
          <p:nvPr/>
        </p:nvGrpSpPr>
        <p:grpSpPr>
          <a:xfrm>
            <a:off x="7695687" y="12037062"/>
            <a:ext cx="1111282" cy="1090259"/>
            <a:chOff x="7325360" y="2651045"/>
            <a:chExt cx="1300480" cy="1300480"/>
          </a:xfrm>
        </p:grpSpPr>
        <p:sp>
          <p:nvSpPr>
            <p:cNvPr id="289" name="Node">
              <a:extLst>
                <a:ext uri="{FF2B5EF4-FFF2-40B4-BE49-F238E27FC236}">
                  <a16:creationId xmlns:a16="http://schemas.microsoft.com/office/drawing/2014/main" id="{C6A64F98-3994-85CB-3F19-68EA14D8C6F5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3" name="Label">
              <a:extLst>
                <a:ext uri="{FF2B5EF4-FFF2-40B4-BE49-F238E27FC236}">
                  <a16:creationId xmlns:a16="http://schemas.microsoft.com/office/drawing/2014/main" id="{20227C73-40CE-2F55-3331-CB9E6B1114A0}"/>
                </a:ext>
              </a:extLst>
            </p:cNvPr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MCNP</a:t>
              </a:r>
            </a:p>
          </p:txBody>
        </p:sp>
      </p:grpSp>
      <p:grpSp>
        <p:nvGrpSpPr>
          <p:cNvPr id="294" name="Plugin: Neutronics">
            <a:extLst>
              <a:ext uri="{FF2B5EF4-FFF2-40B4-BE49-F238E27FC236}">
                <a16:creationId xmlns:a16="http://schemas.microsoft.com/office/drawing/2014/main" id="{31C50BAC-D801-F9C5-456F-6B5E1E4514A0}"/>
              </a:ext>
            </a:extLst>
          </p:cNvPr>
          <p:cNvGrpSpPr/>
          <p:nvPr/>
        </p:nvGrpSpPr>
        <p:grpSpPr>
          <a:xfrm>
            <a:off x="4825910" y="12027924"/>
            <a:ext cx="1111282" cy="1090259"/>
            <a:chOff x="7325360" y="2651045"/>
            <a:chExt cx="1300480" cy="1300480"/>
          </a:xfrm>
        </p:grpSpPr>
        <p:sp>
          <p:nvSpPr>
            <p:cNvPr id="295" name="Node">
              <a:extLst>
                <a:ext uri="{FF2B5EF4-FFF2-40B4-BE49-F238E27FC236}">
                  <a16:creationId xmlns:a16="http://schemas.microsoft.com/office/drawing/2014/main" id="{050788E5-36EF-3372-29A6-E73FFC2E1C56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6" name="Label">
              <a:extLst>
                <a:ext uri="{FF2B5EF4-FFF2-40B4-BE49-F238E27FC236}">
                  <a16:creationId xmlns:a16="http://schemas.microsoft.com/office/drawing/2014/main" id="{4C408923-3371-086A-BC04-AB625FAB368D}"/>
                </a:ext>
              </a:extLst>
            </p:cNvPr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DIF3D</a:t>
              </a:r>
            </a:p>
          </p:txBody>
        </p:sp>
      </p:grpSp>
      <p:cxnSp>
        <p:nvCxnSpPr>
          <p:cNvPr id="297" name="Link: Neutronics - Physics Kernels">
            <a:extLst>
              <a:ext uri="{FF2B5EF4-FFF2-40B4-BE49-F238E27FC236}">
                <a16:creationId xmlns:a16="http://schemas.microsoft.com/office/drawing/2014/main" id="{1C9DC2AF-ACB6-0500-3108-86746BA62BF7}"/>
              </a:ext>
            </a:extLst>
          </p:cNvPr>
          <p:cNvCxnSpPr>
            <a:cxnSpLocks/>
          </p:cNvCxnSpPr>
          <p:nvPr/>
        </p:nvCxnSpPr>
        <p:spPr>
          <a:xfrm flipV="1">
            <a:off x="5745485" y="11664944"/>
            <a:ext cx="548239" cy="450856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cxnSp>
        <p:nvCxnSpPr>
          <p:cNvPr id="300" name="Link: Neutronics - Physics Kernels">
            <a:extLst>
              <a:ext uri="{FF2B5EF4-FFF2-40B4-BE49-F238E27FC236}">
                <a16:creationId xmlns:a16="http://schemas.microsoft.com/office/drawing/2014/main" id="{ECCFF756-3ECF-FDA5-4E68-325E6D0BF8CF}"/>
              </a:ext>
            </a:extLst>
          </p:cNvPr>
          <p:cNvCxnSpPr>
            <a:cxnSpLocks/>
            <a:endCxn id="289" idx="1"/>
          </p:cNvCxnSpPr>
          <p:nvPr/>
        </p:nvCxnSpPr>
        <p:spPr>
          <a:xfrm>
            <a:off x="7421084" y="11722731"/>
            <a:ext cx="437346" cy="473996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grpSp>
        <p:nvGrpSpPr>
          <p:cNvPr id="302" name="Plugin: Neutronics">
            <a:extLst>
              <a:ext uri="{FF2B5EF4-FFF2-40B4-BE49-F238E27FC236}">
                <a16:creationId xmlns:a16="http://schemas.microsoft.com/office/drawing/2014/main" id="{9FF51329-D50A-E9D4-DCB5-6D0DA81FBD74}"/>
              </a:ext>
            </a:extLst>
          </p:cNvPr>
          <p:cNvGrpSpPr/>
          <p:nvPr/>
        </p:nvGrpSpPr>
        <p:grpSpPr>
          <a:xfrm>
            <a:off x="11920829" y="6608445"/>
            <a:ext cx="1111282" cy="1090259"/>
            <a:chOff x="7325360" y="2651045"/>
            <a:chExt cx="1300480" cy="1300480"/>
          </a:xfrm>
        </p:grpSpPr>
        <p:sp>
          <p:nvSpPr>
            <p:cNvPr id="303" name="Node">
              <a:extLst>
                <a:ext uri="{FF2B5EF4-FFF2-40B4-BE49-F238E27FC236}">
                  <a16:creationId xmlns:a16="http://schemas.microsoft.com/office/drawing/2014/main" id="{1090984D-C35A-57ED-443C-2BDE79BC48D2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4" name="Label">
              <a:extLst>
                <a:ext uri="{FF2B5EF4-FFF2-40B4-BE49-F238E27FC236}">
                  <a16:creationId xmlns:a16="http://schemas.microsoft.com/office/drawing/2014/main" id="{16C49E23-228E-9272-A9FB-D49066FA6018}"/>
                </a:ext>
              </a:extLst>
            </p:cNvPr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RELAP5</a:t>
              </a:r>
            </a:p>
          </p:txBody>
        </p:sp>
      </p:grpSp>
      <p:cxnSp>
        <p:nvCxnSpPr>
          <p:cNvPr id="284" name="Link: Neutronics - Physics Kernels">
            <a:extLst>
              <a:ext uri="{FF2B5EF4-FFF2-40B4-BE49-F238E27FC236}">
                <a16:creationId xmlns:a16="http://schemas.microsoft.com/office/drawing/2014/main" id="{BF653EB8-CF07-1BB5-E832-384D8C64BDC1}"/>
              </a:ext>
            </a:extLst>
          </p:cNvPr>
          <p:cNvCxnSpPr>
            <a:cxnSpLocks/>
          </p:cNvCxnSpPr>
          <p:nvPr/>
        </p:nvCxnSpPr>
        <p:spPr>
          <a:xfrm flipH="1">
            <a:off x="11617996" y="7167850"/>
            <a:ext cx="377066" cy="0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grpSp>
        <p:nvGrpSpPr>
          <p:cNvPr id="306" name="Plugin: Neutronics">
            <a:extLst>
              <a:ext uri="{FF2B5EF4-FFF2-40B4-BE49-F238E27FC236}">
                <a16:creationId xmlns:a16="http://schemas.microsoft.com/office/drawing/2014/main" id="{19D3E880-B980-148D-F8F7-25F027B5EF6A}"/>
              </a:ext>
            </a:extLst>
          </p:cNvPr>
          <p:cNvGrpSpPr/>
          <p:nvPr/>
        </p:nvGrpSpPr>
        <p:grpSpPr>
          <a:xfrm>
            <a:off x="9241758" y="1676166"/>
            <a:ext cx="1111282" cy="1090259"/>
            <a:chOff x="7325360" y="2651045"/>
            <a:chExt cx="1300480" cy="1300480"/>
          </a:xfrm>
        </p:grpSpPr>
        <p:sp>
          <p:nvSpPr>
            <p:cNvPr id="307" name="Node">
              <a:extLst>
                <a:ext uri="{FF2B5EF4-FFF2-40B4-BE49-F238E27FC236}">
                  <a16:creationId xmlns:a16="http://schemas.microsoft.com/office/drawing/2014/main" id="{3DDCA4FA-946D-98FD-CCDA-C2D66E97CC03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8" name="Label">
              <a:extLst>
                <a:ext uri="{FF2B5EF4-FFF2-40B4-BE49-F238E27FC236}">
                  <a16:creationId xmlns:a16="http://schemas.microsoft.com/office/drawing/2014/main" id="{26A920B4-9B5E-4F86-7997-8312A2DE1A87}"/>
                </a:ext>
              </a:extLst>
            </p:cNvPr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SASSYS</a:t>
              </a:r>
            </a:p>
          </p:txBody>
        </p:sp>
      </p:grpSp>
      <p:cxnSp>
        <p:nvCxnSpPr>
          <p:cNvPr id="298" name="Link: Neutronics - Physics Kernels">
            <a:extLst>
              <a:ext uri="{FF2B5EF4-FFF2-40B4-BE49-F238E27FC236}">
                <a16:creationId xmlns:a16="http://schemas.microsoft.com/office/drawing/2014/main" id="{98EF3D14-A6E8-10A3-B7CA-A7EE1FC5CE80}"/>
              </a:ext>
            </a:extLst>
          </p:cNvPr>
          <p:cNvCxnSpPr>
            <a:cxnSpLocks/>
          </p:cNvCxnSpPr>
          <p:nvPr/>
        </p:nvCxnSpPr>
        <p:spPr>
          <a:xfrm flipV="1">
            <a:off x="9379474" y="2644453"/>
            <a:ext cx="203057" cy="362684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grpSp>
        <p:nvGrpSpPr>
          <p:cNvPr id="309" name="Plugin: Neutronics">
            <a:extLst>
              <a:ext uri="{FF2B5EF4-FFF2-40B4-BE49-F238E27FC236}">
                <a16:creationId xmlns:a16="http://schemas.microsoft.com/office/drawing/2014/main" id="{B005BDBB-02DF-84D8-4FAB-EA19923E5FF0}"/>
              </a:ext>
            </a:extLst>
          </p:cNvPr>
          <p:cNvGrpSpPr/>
          <p:nvPr/>
        </p:nvGrpSpPr>
        <p:grpSpPr>
          <a:xfrm>
            <a:off x="609656" y="6621430"/>
            <a:ext cx="1111282" cy="1090259"/>
            <a:chOff x="7325360" y="2651045"/>
            <a:chExt cx="1300480" cy="1300480"/>
          </a:xfrm>
        </p:grpSpPr>
        <p:sp>
          <p:nvSpPr>
            <p:cNvPr id="310" name="Node">
              <a:extLst>
                <a:ext uri="{FF2B5EF4-FFF2-40B4-BE49-F238E27FC236}">
                  <a16:creationId xmlns:a16="http://schemas.microsoft.com/office/drawing/2014/main" id="{F71ADA44-ABFF-A028-BC2C-5B56F9B75364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1" name="Label">
              <a:extLst>
                <a:ext uri="{FF2B5EF4-FFF2-40B4-BE49-F238E27FC236}">
                  <a16:creationId xmlns:a16="http://schemas.microsoft.com/office/drawing/2014/main" id="{A5889F71-3FEA-A0B9-A20B-80034A9B7C1D}"/>
                </a:ext>
              </a:extLst>
            </p:cNvPr>
            <p:cNvSpPr txBox="1"/>
            <p:nvPr/>
          </p:nvSpPr>
          <p:spPr>
            <a:xfrm>
              <a:off x="7325360" y="3584833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FRAPCON</a:t>
              </a:r>
            </a:p>
          </p:txBody>
        </p:sp>
      </p:grpSp>
      <p:grpSp>
        <p:nvGrpSpPr>
          <p:cNvPr id="314" name="Plugin: Neutronics">
            <a:extLst>
              <a:ext uri="{FF2B5EF4-FFF2-40B4-BE49-F238E27FC236}">
                <a16:creationId xmlns:a16="http://schemas.microsoft.com/office/drawing/2014/main" id="{3DA4CE31-14E8-77E2-ECC0-8092BEB57F66}"/>
              </a:ext>
            </a:extLst>
          </p:cNvPr>
          <p:cNvGrpSpPr/>
          <p:nvPr/>
        </p:nvGrpSpPr>
        <p:grpSpPr>
          <a:xfrm>
            <a:off x="3298158" y="1766270"/>
            <a:ext cx="1111282" cy="1090259"/>
            <a:chOff x="7325360" y="2651045"/>
            <a:chExt cx="1300480" cy="1300480"/>
          </a:xfrm>
        </p:grpSpPr>
        <p:sp>
          <p:nvSpPr>
            <p:cNvPr id="315" name="Node">
              <a:extLst>
                <a:ext uri="{FF2B5EF4-FFF2-40B4-BE49-F238E27FC236}">
                  <a16:creationId xmlns:a16="http://schemas.microsoft.com/office/drawing/2014/main" id="{5FC55088-FF51-B92E-B780-5A5E87B776A5}"/>
                </a:ext>
              </a:extLst>
            </p:cNvPr>
            <p:cNvSpPr/>
            <p:nvPr/>
          </p:nvSpPr>
          <p:spPr>
            <a:xfrm>
              <a:off x="7325360" y="2651045"/>
              <a:ext cx="1300480" cy="130048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D6DDE8"/>
              </a:solidFill>
            </a:ln>
            <a:effectLst>
              <a:outerShdw blurRad="25400" dist="12700" dir="5400000" algn="t" rotWithShape="0">
                <a:srgbClr val="1B2A44">
                  <a:alpha val="7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6" name="Label">
              <a:extLst>
                <a:ext uri="{FF2B5EF4-FFF2-40B4-BE49-F238E27FC236}">
                  <a16:creationId xmlns:a16="http://schemas.microsoft.com/office/drawing/2014/main" id="{45F3614E-45D7-4BCB-5763-BA61B4ED4AA3}"/>
                </a:ext>
              </a:extLst>
            </p:cNvPr>
            <p:cNvSpPr txBox="1"/>
            <p:nvPr/>
          </p:nvSpPr>
          <p:spPr>
            <a:xfrm>
              <a:off x="7325360" y="3494325"/>
              <a:ext cx="1300480" cy="2032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en-US" sz="1080" b="1" dirty="0">
                  <a:solidFill>
                    <a:srgbClr val="172033"/>
                  </a:solidFill>
                  <a:latin typeface="Arial"/>
                </a:rPr>
                <a:t>BISON</a:t>
              </a:r>
            </a:p>
          </p:txBody>
        </p:sp>
      </p:grpSp>
      <p:cxnSp>
        <p:nvCxnSpPr>
          <p:cNvPr id="292" name="Link: Neutronics - Physics Kernels">
            <a:extLst>
              <a:ext uri="{FF2B5EF4-FFF2-40B4-BE49-F238E27FC236}">
                <a16:creationId xmlns:a16="http://schemas.microsoft.com/office/drawing/2014/main" id="{906AE844-631E-E7C2-0BF7-6D8F1CA49164}"/>
              </a:ext>
            </a:extLst>
          </p:cNvPr>
          <p:cNvCxnSpPr>
            <a:cxnSpLocks/>
          </p:cNvCxnSpPr>
          <p:nvPr/>
        </p:nvCxnSpPr>
        <p:spPr>
          <a:xfrm flipH="1" flipV="1">
            <a:off x="4104640" y="2704548"/>
            <a:ext cx="251005" cy="311366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cxnSp>
        <p:nvCxnSpPr>
          <p:cNvPr id="317" name="Link: Neutronics - Physics Kernels">
            <a:extLst>
              <a:ext uri="{FF2B5EF4-FFF2-40B4-BE49-F238E27FC236}">
                <a16:creationId xmlns:a16="http://schemas.microsoft.com/office/drawing/2014/main" id="{B2801FB1-9A0B-2841-42AF-BF76AE139E57}"/>
              </a:ext>
            </a:extLst>
          </p:cNvPr>
          <p:cNvCxnSpPr>
            <a:cxnSpLocks/>
          </p:cNvCxnSpPr>
          <p:nvPr/>
        </p:nvCxnSpPr>
        <p:spPr>
          <a:xfrm flipH="1">
            <a:off x="1741867" y="7153574"/>
            <a:ext cx="377066" cy="0"/>
          </a:xfrm>
          <a:prstGeom prst="line">
            <a:avLst/>
          </a:prstGeom>
          <a:ln w="20320">
            <a:solidFill>
              <a:schemeClr val="tx1"/>
            </a:solidFill>
            <a:prstDash val="sysDot"/>
            <a:headEnd type="triangle" w="lg" len="lg"/>
            <a:tailEnd type="triangle" w="lg" len="lg"/>
          </a:ln>
          <a:effectLst/>
        </p:spPr>
      </p:cxnSp>
      <p:pic>
        <p:nvPicPr>
          <p:cNvPr id="323" name="Picture 322" descr="Los Alamos National Laboratory Careers and Employment | Indeed.com">
            <a:extLst>
              <a:ext uri="{FF2B5EF4-FFF2-40B4-BE49-F238E27FC236}">
                <a16:creationId xmlns:a16="http://schemas.microsoft.com/office/drawing/2014/main" id="{B27C0DFC-E9E9-BA4C-F34A-F61AD4CF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837" y="12181623"/>
            <a:ext cx="472886" cy="472886"/>
          </a:xfrm>
          <a:prstGeom prst="rect">
            <a:avLst/>
          </a:prstGeom>
        </p:spPr>
      </p:pic>
      <p:pic>
        <p:nvPicPr>
          <p:cNvPr id="325" name="Picture 324">
            <a:extLst>
              <a:ext uri="{FF2B5EF4-FFF2-40B4-BE49-F238E27FC236}">
                <a16:creationId xmlns:a16="http://schemas.microsoft.com/office/drawing/2014/main" id="{886F9981-FDC7-2730-E1DD-29AFC0383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951" y="12224065"/>
            <a:ext cx="457200" cy="457200"/>
          </a:xfrm>
          <a:prstGeom prst="rect">
            <a:avLst/>
          </a:prstGeom>
        </p:spPr>
      </p:pic>
      <p:pic>
        <p:nvPicPr>
          <p:cNvPr id="326" name="Picture 325">
            <a:extLst>
              <a:ext uri="{FF2B5EF4-FFF2-40B4-BE49-F238E27FC236}">
                <a16:creationId xmlns:a16="http://schemas.microsoft.com/office/drawing/2014/main" id="{8063FCB0-F879-5FF5-7DBC-B14A2D77B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7196" y="6757182"/>
            <a:ext cx="458548" cy="458548"/>
          </a:xfrm>
          <a:prstGeom prst="rect">
            <a:avLst/>
          </a:prstGeom>
          <a:solidFill>
            <a:srgbClr val="1F4EAD"/>
          </a:solidFill>
        </p:spPr>
      </p:pic>
      <p:pic>
        <p:nvPicPr>
          <p:cNvPr id="328" name="Picture 327">
            <a:extLst>
              <a:ext uri="{FF2B5EF4-FFF2-40B4-BE49-F238E27FC236}">
                <a16:creationId xmlns:a16="http://schemas.microsoft.com/office/drawing/2014/main" id="{F93F9840-94D8-A324-4637-AB933145F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799" y="1864577"/>
            <a:ext cx="457200" cy="457200"/>
          </a:xfrm>
          <a:prstGeom prst="rect">
            <a:avLst/>
          </a:prstGeom>
        </p:spPr>
      </p:pic>
      <p:pic>
        <p:nvPicPr>
          <p:cNvPr id="330" name="Picture 329">
            <a:extLst>
              <a:ext uri="{FF2B5EF4-FFF2-40B4-BE49-F238E27FC236}">
                <a16:creationId xmlns:a16="http://schemas.microsoft.com/office/drawing/2014/main" id="{106D0CCB-B37A-8EE0-B603-016FE9A105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525" y="1935925"/>
            <a:ext cx="458548" cy="458548"/>
          </a:xfrm>
          <a:prstGeom prst="rect">
            <a:avLst/>
          </a:prstGeom>
          <a:solidFill>
            <a:srgbClr val="1F4EAD"/>
          </a:solidFill>
        </p:spPr>
      </p:pic>
      <p:pic>
        <p:nvPicPr>
          <p:cNvPr id="331" name="Picture 330" descr="3383 - Nuclear Reactors 1425 - UK's Office for Nuclear Regulation, The U.S. Nuclear Regulatory ...">
            <a:extLst>
              <a:ext uri="{FF2B5EF4-FFF2-40B4-BE49-F238E27FC236}">
                <a16:creationId xmlns:a16="http://schemas.microsoft.com/office/drawing/2014/main" id="{7E81682A-1C01-C30A-CE1A-131324BEB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26" y="6757182"/>
            <a:ext cx="521076" cy="6115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57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ARMI architecture - radial view (editable)</dc:title>
  <dc:subject/>
  <dc:creator/>
  <cp:keywords/>
  <dc:description>generated using python-pptx</dc:description>
  <cp:lastModifiedBy>John Stilley</cp:lastModifiedBy>
  <cp:revision>28</cp:revision>
  <dcterms:created xsi:type="dcterms:W3CDTF">2013-01-27T09:14:16Z</dcterms:created>
  <dcterms:modified xsi:type="dcterms:W3CDTF">2026-10-21T16:41:27Z</dcterms:modified>
  <cp:category/>
</cp:coreProperties>
</file>