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716000" cy="13716000"/>
  <p:notesSz cx="6858000" cy="9144000"/>
  <p:defaultTextStyle>
    <a:defPPr>
      <a:defRPr lang="en-US"/>
    </a:defPPr>
    <a:lvl1pPr marL="0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1pPr>
    <a:lvl2pPr marL="500771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2pPr>
    <a:lvl3pPr marL="1001542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3pPr>
    <a:lvl4pPr marL="1502313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4pPr>
    <a:lvl5pPr marL="2003085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5pPr>
    <a:lvl6pPr marL="2503856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6pPr>
    <a:lvl7pPr marL="3004627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7pPr>
    <a:lvl8pPr marL="3505398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8pPr>
    <a:lvl9pPr marL="4006169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3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140"/>
    <a:srgbClr val="68AC96"/>
    <a:srgbClr val="78998D"/>
    <a:srgbClr val="BF5F7F"/>
    <a:srgbClr val="0A6A51"/>
    <a:srgbClr val="1F4EAD"/>
    <a:srgbClr val="F3DBE2"/>
    <a:srgbClr val="F2F5FC"/>
    <a:srgbClr val="D4E0F7"/>
    <a:srgbClr val="5FB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306" y="-1284"/>
      </p:cViewPr>
      <p:guideLst>
        <p:guide orient="horz" pos="2234"/>
        <p:guide pos="33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2FC9D-1209-44A5-B8ED-C8BC115E200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11AB3-F7A0-4615-8016-73DB9B966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4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green F0F9F6    dark green 5FBF9F</a:t>
            </a:r>
            <a:br>
              <a:rPr lang="en-US" dirty="0"/>
            </a:br>
            <a:r>
              <a:rPr lang="en-US" dirty="0"/>
              <a:t>Light blue F2F5FC  dark blue  1F4EAD</a:t>
            </a:r>
            <a:br>
              <a:rPr lang="en-US" dirty="0"/>
            </a:br>
            <a:r>
              <a:rPr lang="en-US" dirty="0"/>
              <a:t>pink F3DBE2     red BF5F7F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1AB3-F7A0-4615-8016-73DB9B9669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84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8129" y="2203888"/>
            <a:ext cx="9045466" cy="15207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6259" y="4020207"/>
            <a:ext cx="7449207" cy="181303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23" y="4558863"/>
            <a:ext cx="9045466" cy="14090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623" y="3006945"/>
            <a:ext cx="9045466" cy="155191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2086" y="1655380"/>
            <a:ext cx="4700095" cy="46820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9543" y="1655380"/>
            <a:ext cx="4700095" cy="46820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086" y="1588048"/>
            <a:ext cx="4701943" cy="6618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086" y="2249871"/>
            <a:ext cx="4701943" cy="40875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05849" y="1588048"/>
            <a:ext cx="4703790" cy="6618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05849" y="2249871"/>
            <a:ext cx="4703790" cy="40875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87" y="282465"/>
            <a:ext cx="3501054" cy="12021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0619" y="282466"/>
            <a:ext cx="5949019" cy="60549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2087" y="1484587"/>
            <a:ext cx="3501054" cy="48528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853" y="4966138"/>
            <a:ext cx="6385034" cy="5862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5853" y="633905"/>
            <a:ext cx="6385034" cy="425669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853" y="5552419"/>
            <a:ext cx="6385034" cy="8326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5250" y="284109"/>
            <a:ext cx="2394388" cy="60533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2086" y="284109"/>
            <a:ext cx="7005802" cy="60533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086" y="284108"/>
            <a:ext cx="9577552" cy="1182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086" y="1655380"/>
            <a:ext cx="9577552" cy="4682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086" y="6575535"/>
            <a:ext cx="2483069" cy="377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5923" y="6575535"/>
            <a:ext cx="3369879" cy="377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569" y="6575535"/>
            <a:ext cx="2483069" cy="377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actor Model label"/>
          <p:cNvSpPr txBox="1"/>
          <p:nvPr/>
        </p:nvSpPr>
        <p:spPr>
          <a:xfrm>
            <a:off x="3432103" y="4842495"/>
            <a:ext cx="3048000" cy="294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0" b="1" dirty="0">
                <a:solidFill>
                  <a:srgbClr val="172033"/>
                </a:solidFill>
                <a:latin typeface="Arial"/>
              </a:rPr>
              <a:t>Reactor </a:t>
            </a:r>
            <a:r>
              <a:rPr lang="en-US" sz="1360" b="1" dirty="0">
                <a:solidFill>
                  <a:srgbClr val="172033"/>
                </a:solidFill>
                <a:latin typeface="Arial"/>
              </a:rPr>
              <a:t>Data </a:t>
            </a:r>
            <a:r>
              <a:rPr sz="1360" b="1" dirty="0">
                <a:solidFill>
                  <a:srgbClr val="172033"/>
                </a:solidFill>
                <a:latin typeface="Arial"/>
              </a:rPr>
              <a:t>Model</a:t>
            </a:r>
            <a:endParaRPr sz="1040" dirty="0">
              <a:solidFill>
                <a:srgbClr val="5A6578"/>
              </a:solidFill>
              <a:latin typeface="Arial"/>
            </a:endParaRPr>
          </a:p>
        </p:txBody>
      </p:sp>
      <p:grpSp>
        <p:nvGrpSpPr>
          <p:cNvPr id="66" name="Reactor Model (3D core in transparent cylinder)"/>
          <p:cNvGrpSpPr/>
          <p:nvPr/>
        </p:nvGrpSpPr>
        <p:grpSpPr>
          <a:xfrm>
            <a:off x="-4403598" y="40417"/>
            <a:ext cx="7004875" cy="8061514"/>
            <a:chOff x="0" y="0"/>
            <a:chExt cx="7004875" cy="8061514"/>
          </a:xfrm>
        </p:grpSpPr>
        <p:sp>
          <p:nvSpPr>
            <p:cNvPr id="67" name="Base plate (side)"/>
            <p:cNvSpPr/>
            <p:nvPr/>
          </p:nvSpPr>
          <p:spPr>
            <a:xfrm>
              <a:off x="4780726" y="7434357"/>
              <a:ext cx="2224149" cy="627157"/>
            </a:xfrm>
            <a:custGeom>
              <a:avLst/>
              <a:gdLst/>
              <a:ahLst/>
              <a:cxnLst/>
              <a:rect l="0" t="0" r="r" b="b"/>
              <a:pathLst>
                <a:path w="2224149" h="627157">
                  <a:moveTo>
                    <a:pt x="0" y="0"/>
                  </a:moveTo>
                  <a:cubicBezTo>
                    <a:pt x="0" y="307091"/>
                    <a:pt x="497893" y="556037"/>
                    <a:pt x="1112074" y="556037"/>
                  </a:cubicBezTo>
                  <a:cubicBezTo>
                    <a:pt x="1726256" y="556037"/>
                    <a:pt x="2224149" y="307091"/>
                    <a:pt x="2224149" y="0"/>
                  </a:cubicBezTo>
                  <a:lnTo>
                    <a:pt x="2224149" y="71120"/>
                  </a:lnTo>
                  <a:cubicBezTo>
                    <a:pt x="2224149" y="378211"/>
                    <a:pt x="1726256" y="627157"/>
                    <a:pt x="1112074" y="627157"/>
                  </a:cubicBezTo>
                  <a:cubicBezTo>
                    <a:pt x="497893" y="627157"/>
                    <a:pt x="0" y="378211"/>
                    <a:pt x="0" y="71120"/>
                  </a:cubicBezTo>
                  <a:close/>
                </a:path>
              </a:pathLst>
            </a:custGeom>
            <a:solidFill>
              <a:srgbClr val="B4E0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Base plate (top)"/>
            <p:cNvSpPr/>
            <p:nvPr/>
          </p:nvSpPr>
          <p:spPr>
            <a:xfrm>
              <a:off x="4780726" y="6878320"/>
              <a:ext cx="2224149" cy="1112074"/>
            </a:xfrm>
            <a:prstGeom prst="ellipse">
              <a:avLst/>
            </a:prstGeom>
            <a:solidFill>
              <a:srgbClr val="E6F5EF"/>
            </a:solidFill>
            <a:ln w="12192">
              <a:solidFill>
                <a:srgbClr val="B4E0CE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Cylinder glass (back)"/>
            <p:cNvSpPr/>
            <p:nvPr/>
          </p:nvSpPr>
          <p:spPr>
            <a:xfrm>
              <a:off x="4780726" y="5303520"/>
              <a:ext cx="2224149" cy="2686874"/>
            </a:xfrm>
            <a:custGeom>
              <a:avLst/>
              <a:gdLst/>
              <a:ahLst/>
              <a:cxnLst/>
              <a:rect l="0" t="0" r="r" b="b"/>
              <a:pathLst>
                <a:path w="2224149" h="2686874">
                  <a:moveTo>
                    <a:pt x="0" y="2130837"/>
                  </a:moveTo>
                  <a:lnTo>
                    <a:pt x="0" y="556037"/>
                  </a:lnTo>
                  <a:cubicBezTo>
                    <a:pt x="0" y="248946"/>
                    <a:pt x="497893" y="0"/>
                    <a:pt x="1112074" y="0"/>
                  </a:cubicBezTo>
                  <a:cubicBezTo>
                    <a:pt x="1726256" y="0"/>
                    <a:pt x="2224149" y="248946"/>
                    <a:pt x="2224149" y="556037"/>
                  </a:cubicBezTo>
                  <a:lnTo>
                    <a:pt x="2224149" y="2130837"/>
                  </a:lnTo>
                  <a:cubicBezTo>
                    <a:pt x="2224149" y="2437928"/>
                    <a:pt x="1726256" y="2686874"/>
                    <a:pt x="1112074" y="2686874"/>
                  </a:cubicBezTo>
                  <a:cubicBezTo>
                    <a:pt x="497893" y="2686874"/>
                    <a:pt x="0" y="2437928"/>
                    <a:pt x="0" y="2130837"/>
                  </a:cubicBezTo>
                  <a:close/>
                </a:path>
              </a:pathLst>
            </a:custGeom>
            <a:solidFill>
              <a:srgbClr val="0E9270">
                <a:alpha val="7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im (back)"/>
            <p:cNvSpPr/>
            <p:nvPr/>
          </p:nvSpPr>
          <p:spPr>
            <a:xfrm>
              <a:off x="4780726" y="5303520"/>
              <a:ext cx="2224149" cy="556037"/>
            </a:xfrm>
            <a:custGeom>
              <a:avLst/>
              <a:gdLst/>
              <a:ahLst/>
              <a:cxnLst/>
              <a:rect l="0" t="0" r="r" b="b"/>
              <a:pathLst>
                <a:path w="2224149" h="556037" fill="none">
                  <a:moveTo>
                    <a:pt x="0" y="556037"/>
                  </a:moveTo>
                  <a:cubicBezTo>
                    <a:pt x="0" y="248946"/>
                    <a:pt x="497893" y="0"/>
                    <a:pt x="1112074" y="0"/>
                  </a:cubicBezTo>
                  <a:cubicBezTo>
                    <a:pt x="1726256" y="0"/>
                    <a:pt x="2224149" y="248946"/>
                    <a:pt x="2224149" y="556037"/>
                  </a:cubicBezTo>
                </a:path>
              </a:pathLst>
            </a:custGeom>
            <a:noFill/>
            <a:ln w="14224" cap="rnd">
              <a:solidFill>
                <a:srgbClr val="0E9270">
                  <a:alpha val="44000"/>
                </a:srgbClr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71" name="Assembly fuel (0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2" name="Left face"/>
              <p:cNvSpPr/>
              <p:nvPr/>
            </p:nvSpPr>
            <p:spPr>
              <a:xfrm>
                <a:off x="5329676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Right face"/>
              <p:cNvSpPr/>
              <p:nvPr/>
            </p:nvSpPr>
            <p:spPr>
              <a:xfrm>
                <a:off x="5454619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Top face"/>
              <p:cNvSpPr/>
              <p:nvPr/>
            </p:nvSpPr>
            <p:spPr>
              <a:xfrm>
                <a:off x="5329676" y="552986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5" name="Assembly fuel (1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6" name="Left face"/>
              <p:cNvSpPr/>
              <p:nvPr/>
            </p:nvSpPr>
            <p:spPr>
              <a:xfrm>
                <a:off x="5621796" y="563806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Right face"/>
              <p:cNvSpPr/>
              <p:nvPr/>
            </p:nvSpPr>
            <p:spPr>
              <a:xfrm>
                <a:off x="5746740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Top face"/>
              <p:cNvSpPr/>
              <p:nvPr/>
            </p:nvSpPr>
            <p:spPr>
              <a:xfrm>
                <a:off x="5621796" y="552986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9" name="Assembly fuel (2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0" name="Left face"/>
              <p:cNvSpPr/>
              <p:nvPr/>
            </p:nvSpPr>
            <p:spPr>
              <a:xfrm>
                <a:off x="5913917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Right face"/>
              <p:cNvSpPr/>
              <p:nvPr/>
            </p:nvSpPr>
            <p:spPr>
              <a:xfrm>
                <a:off x="6038860" y="563806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Top face"/>
              <p:cNvSpPr/>
              <p:nvPr/>
            </p:nvSpPr>
            <p:spPr>
              <a:xfrm>
                <a:off x="5913917" y="552986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3" name="Assembly fuel (3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4" name="Left face"/>
              <p:cNvSpPr/>
              <p:nvPr/>
            </p:nvSpPr>
            <p:spPr>
              <a:xfrm>
                <a:off x="6206038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Right face"/>
              <p:cNvSpPr/>
              <p:nvPr/>
            </p:nvSpPr>
            <p:spPr>
              <a:xfrm>
                <a:off x="6330981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Top face"/>
              <p:cNvSpPr/>
              <p:nvPr/>
            </p:nvSpPr>
            <p:spPr>
              <a:xfrm>
                <a:off x="6206038" y="552986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7" name="Assembly fuel (-1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8" name="Left face"/>
              <p:cNvSpPr/>
              <p:nvPr/>
            </p:nvSpPr>
            <p:spPr>
              <a:xfrm>
                <a:off x="5183615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Right face"/>
              <p:cNvSpPr/>
              <p:nvPr/>
            </p:nvSpPr>
            <p:spPr>
              <a:xfrm>
                <a:off x="5308558" y="576456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Top face"/>
              <p:cNvSpPr/>
              <p:nvPr/>
            </p:nvSpPr>
            <p:spPr>
              <a:xfrm>
                <a:off x="5183615" y="565635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1" name="Assembly control (0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2" name="Left face"/>
              <p:cNvSpPr/>
              <p:nvPr/>
            </p:nvSpPr>
            <p:spPr>
              <a:xfrm>
                <a:off x="5475736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Right face"/>
              <p:cNvSpPr/>
              <p:nvPr/>
            </p:nvSpPr>
            <p:spPr>
              <a:xfrm>
                <a:off x="5600679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Top face"/>
              <p:cNvSpPr/>
              <p:nvPr/>
            </p:nvSpPr>
            <p:spPr>
              <a:xfrm>
                <a:off x="5475736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5" name="Assembly fuel (1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6" name="Left face"/>
              <p:cNvSpPr/>
              <p:nvPr/>
            </p:nvSpPr>
            <p:spPr>
              <a:xfrm>
                <a:off x="5767857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Right face"/>
              <p:cNvSpPr/>
              <p:nvPr/>
            </p:nvSpPr>
            <p:spPr>
              <a:xfrm>
                <a:off x="5892800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Top face"/>
              <p:cNvSpPr/>
              <p:nvPr/>
            </p:nvSpPr>
            <p:spPr>
              <a:xfrm>
                <a:off x="5767857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9" name="Assembly control (2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0" name="Left face"/>
              <p:cNvSpPr/>
              <p:nvPr/>
            </p:nvSpPr>
            <p:spPr>
              <a:xfrm>
                <a:off x="6059978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Right face"/>
              <p:cNvSpPr/>
              <p:nvPr/>
            </p:nvSpPr>
            <p:spPr>
              <a:xfrm>
                <a:off x="6184921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Top face"/>
              <p:cNvSpPr/>
              <p:nvPr/>
            </p:nvSpPr>
            <p:spPr>
              <a:xfrm>
                <a:off x="6059978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3" name="Assembly fuel (3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4" name="Left face"/>
              <p:cNvSpPr/>
              <p:nvPr/>
            </p:nvSpPr>
            <p:spPr>
              <a:xfrm>
                <a:off x="6352098" y="576456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Right face"/>
              <p:cNvSpPr/>
              <p:nvPr/>
            </p:nvSpPr>
            <p:spPr>
              <a:xfrm>
                <a:off x="6477042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Top face"/>
              <p:cNvSpPr/>
              <p:nvPr/>
            </p:nvSpPr>
            <p:spPr>
              <a:xfrm>
                <a:off x="6352098" y="565635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7" name="Assembly fuel (-2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8" name="Left face"/>
              <p:cNvSpPr/>
              <p:nvPr/>
            </p:nvSpPr>
            <p:spPr>
              <a:xfrm>
                <a:off x="5037555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Right face"/>
              <p:cNvSpPr/>
              <p:nvPr/>
            </p:nvSpPr>
            <p:spPr>
              <a:xfrm>
                <a:off x="5162498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Top face"/>
              <p:cNvSpPr/>
              <p:nvPr/>
            </p:nvSpPr>
            <p:spPr>
              <a:xfrm>
                <a:off x="5037555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1" name="Assembly fuel (-1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2" name="Left face"/>
              <p:cNvSpPr/>
              <p:nvPr/>
            </p:nvSpPr>
            <p:spPr>
              <a:xfrm>
                <a:off x="5329676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Right face"/>
              <p:cNvSpPr/>
              <p:nvPr/>
            </p:nvSpPr>
            <p:spPr>
              <a:xfrm>
                <a:off x="5454619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Top face"/>
              <p:cNvSpPr/>
              <p:nvPr/>
            </p:nvSpPr>
            <p:spPr>
              <a:xfrm>
                <a:off x="5329676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5" name="Assembly fuel (0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6" name="Left face"/>
              <p:cNvSpPr/>
              <p:nvPr/>
            </p:nvSpPr>
            <p:spPr>
              <a:xfrm>
                <a:off x="5621796" y="5891053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Right face"/>
              <p:cNvSpPr/>
              <p:nvPr/>
            </p:nvSpPr>
            <p:spPr>
              <a:xfrm>
                <a:off x="5746740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Top face"/>
              <p:cNvSpPr/>
              <p:nvPr/>
            </p:nvSpPr>
            <p:spPr>
              <a:xfrm>
                <a:off x="5621796" y="5782849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9" name="Assembly fuel (1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0" name="Left face"/>
              <p:cNvSpPr/>
              <p:nvPr/>
            </p:nvSpPr>
            <p:spPr>
              <a:xfrm>
                <a:off x="5913917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Right face"/>
              <p:cNvSpPr/>
              <p:nvPr/>
            </p:nvSpPr>
            <p:spPr>
              <a:xfrm>
                <a:off x="6038860" y="5891053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Top face"/>
              <p:cNvSpPr/>
              <p:nvPr/>
            </p:nvSpPr>
            <p:spPr>
              <a:xfrm>
                <a:off x="5913917" y="5782849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3" name="Assembly fuel (2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4" name="Left face"/>
              <p:cNvSpPr/>
              <p:nvPr/>
            </p:nvSpPr>
            <p:spPr>
              <a:xfrm>
                <a:off x="6206038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Right face"/>
              <p:cNvSpPr/>
              <p:nvPr/>
            </p:nvSpPr>
            <p:spPr>
              <a:xfrm>
                <a:off x="6330981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Top face"/>
              <p:cNvSpPr/>
              <p:nvPr/>
            </p:nvSpPr>
            <p:spPr>
              <a:xfrm>
                <a:off x="6206038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7" name="Assembly fuel (3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8" name="Left face"/>
              <p:cNvSpPr/>
              <p:nvPr/>
            </p:nvSpPr>
            <p:spPr>
              <a:xfrm>
                <a:off x="6498159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Right face"/>
              <p:cNvSpPr/>
              <p:nvPr/>
            </p:nvSpPr>
            <p:spPr>
              <a:xfrm>
                <a:off x="6623102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Top face"/>
              <p:cNvSpPr/>
              <p:nvPr/>
            </p:nvSpPr>
            <p:spPr>
              <a:xfrm>
                <a:off x="6498159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1" name="Assembly fuel (-3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32" name="Left face"/>
              <p:cNvSpPr/>
              <p:nvPr/>
            </p:nvSpPr>
            <p:spPr>
              <a:xfrm>
                <a:off x="4891494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Right face"/>
              <p:cNvSpPr/>
              <p:nvPr/>
            </p:nvSpPr>
            <p:spPr>
              <a:xfrm>
                <a:off x="5016438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Top face"/>
              <p:cNvSpPr/>
              <p:nvPr/>
            </p:nvSpPr>
            <p:spPr>
              <a:xfrm>
                <a:off x="4891494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5" name="Assembly control (-2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36" name="Left face"/>
              <p:cNvSpPr/>
              <p:nvPr/>
            </p:nvSpPr>
            <p:spPr>
              <a:xfrm>
                <a:off x="5183615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Right face"/>
              <p:cNvSpPr/>
              <p:nvPr/>
            </p:nvSpPr>
            <p:spPr>
              <a:xfrm>
                <a:off x="5308558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Top face"/>
              <p:cNvSpPr/>
              <p:nvPr/>
            </p:nvSpPr>
            <p:spPr>
              <a:xfrm>
                <a:off x="5183615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9" name="Assembly fuel (-1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0" name="Left face"/>
              <p:cNvSpPr/>
              <p:nvPr/>
            </p:nvSpPr>
            <p:spPr>
              <a:xfrm>
                <a:off x="5475736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Right face"/>
              <p:cNvSpPr/>
              <p:nvPr/>
            </p:nvSpPr>
            <p:spPr>
              <a:xfrm>
                <a:off x="5600679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Top face"/>
              <p:cNvSpPr/>
              <p:nvPr/>
            </p:nvSpPr>
            <p:spPr>
              <a:xfrm>
                <a:off x="5475736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3" name="Assembly fuel (0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4" name="Left face"/>
              <p:cNvSpPr/>
              <p:nvPr/>
            </p:nvSpPr>
            <p:spPr>
              <a:xfrm>
                <a:off x="5767857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C7B5E"/>
              </a:solidFill>
              <a:ln w="8128">
                <a:solidFill>
                  <a:srgbClr val="0C7B5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Right face"/>
              <p:cNvSpPr/>
              <p:nvPr/>
            </p:nvSpPr>
            <p:spPr>
              <a:xfrm>
                <a:off x="5892800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A634C"/>
              </a:solidFill>
              <a:ln w="8128">
                <a:solidFill>
                  <a:srgbClr val="0A634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Top face"/>
              <p:cNvSpPr/>
              <p:nvPr/>
            </p:nvSpPr>
            <p:spPr>
              <a:xfrm>
                <a:off x="5767857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E9270"/>
              </a:solidFill>
              <a:ln w="10160">
                <a:solidFill>
                  <a:srgbClr val="62B8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7" name="Assembly fuel (1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8" name="Left face"/>
              <p:cNvSpPr/>
              <p:nvPr/>
            </p:nvSpPr>
            <p:spPr>
              <a:xfrm>
                <a:off x="6059978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Right face"/>
              <p:cNvSpPr/>
              <p:nvPr/>
            </p:nvSpPr>
            <p:spPr>
              <a:xfrm>
                <a:off x="6184921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Top face"/>
              <p:cNvSpPr/>
              <p:nvPr/>
            </p:nvSpPr>
            <p:spPr>
              <a:xfrm>
                <a:off x="6059978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1" name="Assembly control (2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52" name="Left face"/>
              <p:cNvSpPr/>
              <p:nvPr/>
            </p:nvSpPr>
            <p:spPr>
              <a:xfrm>
                <a:off x="6352098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Right face"/>
              <p:cNvSpPr/>
              <p:nvPr/>
            </p:nvSpPr>
            <p:spPr>
              <a:xfrm>
                <a:off x="6477042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Top face"/>
              <p:cNvSpPr/>
              <p:nvPr/>
            </p:nvSpPr>
            <p:spPr>
              <a:xfrm>
                <a:off x="6352098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5" name="Assembly fuel (3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56" name="Left face"/>
              <p:cNvSpPr/>
              <p:nvPr/>
            </p:nvSpPr>
            <p:spPr>
              <a:xfrm>
                <a:off x="6644219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Right face"/>
              <p:cNvSpPr/>
              <p:nvPr/>
            </p:nvSpPr>
            <p:spPr>
              <a:xfrm>
                <a:off x="6769162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Top face"/>
              <p:cNvSpPr/>
              <p:nvPr/>
            </p:nvSpPr>
            <p:spPr>
              <a:xfrm>
                <a:off x="6644219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9" name="Assembly fuel (-3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0" name="Left face"/>
              <p:cNvSpPr/>
              <p:nvPr/>
            </p:nvSpPr>
            <p:spPr>
              <a:xfrm>
                <a:off x="5037555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Right face"/>
              <p:cNvSpPr/>
              <p:nvPr/>
            </p:nvSpPr>
            <p:spPr>
              <a:xfrm>
                <a:off x="5162498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Top face"/>
              <p:cNvSpPr/>
              <p:nvPr/>
            </p:nvSpPr>
            <p:spPr>
              <a:xfrm>
                <a:off x="5037555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3" name="Assembly fuel (-2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4" name="Left face"/>
              <p:cNvSpPr/>
              <p:nvPr/>
            </p:nvSpPr>
            <p:spPr>
              <a:xfrm>
                <a:off x="5329676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Right face"/>
              <p:cNvSpPr/>
              <p:nvPr/>
            </p:nvSpPr>
            <p:spPr>
              <a:xfrm>
                <a:off x="5454619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Top face"/>
              <p:cNvSpPr/>
              <p:nvPr/>
            </p:nvSpPr>
            <p:spPr>
              <a:xfrm>
                <a:off x="5329676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7" name="Assembly fuel (-1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8" name="Left face"/>
              <p:cNvSpPr/>
              <p:nvPr/>
            </p:nvSpPr>
            <p:spPr>
              <a:xfrm>
                <a:off x="5621796" y="6144037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Right face"/>
              <p:cNvSpPr/>
              <p:nvPr/>
            </p:nvSpPr>
            <p:spPr>
              <a:xfrm>
                <a:off x="5746740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Top face"/>
              <p:cNvSpPr/>
              <p:nvPr/>
            </p:nvSpPr>
            <p:spPr>
              <a:xfrm>
                <a:off x="5621796" y="6035833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1" name="Assembly fuel (0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2" name="Left face"/>
              <p:cNvSpPr/>
              <p:nvPr/>
            </p:nvSpPr>
            <p:spPr>
              <a:xfrm>
                <a:off x="5913917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Right face"/>
              <p:cNvSpPr/>
              <p:nvPr/>
            </p:nvSpPr>
            <p:spPr>
              <a:xfrm>
                <a:off x="6038860" y="6144037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Top face"/>
              <p:cNvSpPr/>
              <p:nvPr/>
            </p:nvSpPr>
            <p:spPr>
              <a:xfrm>
                <a:off x="5913917" y="6035833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" name="Assembly fuel (1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6" name="Left face"/>
              <p:cNvSpPr/>
              <p:nvPr/>
            </p:nvSpPr>
            <p:spPr>
              <a:xfrm>
                <a:off x="6206038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Right face"/>
              <p:cNvSpPr/>
              <p:nvPr/>
            </p:nvSpPr>
            <p:spPr>
              <a:xfrm>
                <a:off x="6330981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Top face"/>
              <p:cNvSpPr/>
              <p:nvPr/>
            </p:nvSpPr>
            <p:spPr>
              <a:xfrm>
                <a:off x="6206038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9" name="Assembly fuel (2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Left face"/>
              <p:cNvSpPr/>
              <p:nvPr/>
            </p:nvSpPr>
            <p:spPr>
              <a:xfrm>
                <a:off x="6498159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Right face"/>
              <p:cNvSpPr/>
              <p:nvPr/>
            </p:nvSpPr>
            <p:spPr>
              <a:xfrm>
                <a:off x="6623102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Top face"/>
              <p:cNvSpPr/>
              <p:nvPr/>
            </p:nvSpPr>
            <p:spPr>
              <a:xfrm>
                <a:off x="6498159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83" name="Assembly fuel (-3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4" name="Left face"/>
              <p:cNvSpPr/>
              <p:nvPr/>
            </p:nvSpPr>
            <p:spPr>
              <a:xfrm>
                <a:off x="5183615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Right face"/>
              <p:cNvSpPr/>
              <p:nvPr/>
            </p:nvSpPr>
            <p:spPr>
              <a:xfrm>
                <a:off x="5308558" y="627052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Top face"/>
              <p:cNvSpPr/>
              <p:nvPr/>
            </p:nvSpPr>
            <p:spPr>
              <a:xfrm>
                <a:off x="5183615" y="616232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87" name="Assembly control (-2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8" name="Left face"/>
              <p:cNvSpPr/>
              <p:nvPr/>
            </p:nvSpPr>
            <p:spPr>
              <a:xfrm>
                <a:off x="5475736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Right face"/>
              <p:cNvSpPr/>
              <p:nvPr/>
            </p:nvSpPr>
            <p:spPr>
              <a:xfrm>
                <a:off x="5600679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Top face"/>
              <p:cNvSpPr/>
              <p:nvPr/>
            </p:nvSpPr>
            <p:spPr>
              <a:xfrm>
                <a:off x="5475736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1" name="Assembly fuel (-1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2" name="Left face"/>
              <p:cNvSpPr/>
              <p:nvPr/>
            </p:nvSpPr>
            <p:spPr>
              <a:xfrm>
                <a:off x="5767857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Right face"/>
              <p:cNvSpPr/>
              <p:nvPr/>
            </p:nvSpPr>
            <p:spPr>
              <a:xfrm>
                <a:off x="5892800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Top face"/>
              <p:cNvSpPr/>
              <p:nvPr/>
            </p:nvSpPr>
            <p:spPr>
              <a:xfrm>
                <a:off x="5767857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5" name="Assembly control (0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6" name="Left face"/>
              <p:cNvSpPr/>
              <p:nvPr/>
            </p:nvSpPr>
            <p:spPr>
              <a:xfrm>
                <a:off x="6059978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Right face"/>
              <p:cNvSpPr/>
              <p:nvPr/>
            </p:nvSpPr>
            <p:spPr>
              <a:xfrm>
                <a:off x="6184921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Top face"/>
              <p:cNvSpPr/>
              <p:nvPr/>
            </p:nvSpPr>
            <p:spPr>
              <a:xfrm>
                <a:off x="6059978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9" name="Assembly fuel (1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0" name="Left face"/>
              <p:cNvSpPr/>
              <p:nvPr/>
            </p:nvSpPr>
            <p:spPr>
              <a:xfrm>
                <a:off x="6352098" y="627052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Right face"/>
              <p:cNvSpPr/>
              <p:nvPr/>
            </p:nvSpPr>
            <p:spPr>
              <a:xfrm>
                <a:off x="6477042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Top face"/>
              <p:cNvSpPr/>
              <p:nvPr/>
            </p:nvSpPr>
            <p:spPr>
              <a:xfrm>
                <a:off x="6352098" y="616232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3" name="Assembly fuel (-3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4" name="Left face"/>
              <p:cNvSpPr/>
              <p:nvPr/>
            </p:nvSpPr>
            <p:spPr>
              <a:xfrm>
                <a:off x="5329676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Right face"/>
              <p:cNvSpPr/>
              <p:nvPr/>
            </p:nvSpPr>
            <p:spPr>
              <a:xfrm>
                <a:off x="5454619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Top face"/>
              <p:cNvSpPr/>
              <p:nvPr/>
            </p:nvSpPr>
            <p:spPr>
              <a:xfrm>
                <a:off x="5329676" y="628881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7" name="Assembly fuel (-2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8" name="Left face"/>
              <p:cNvSpPr/>
              <p:nvPr/>
            </p:nvSpPr>
            <p:spPr>
              <a:xfrm>
                <a:off x="5621796" y="639702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Right face"/>
              <p:cNvSpPr/>
              <p:nvPr/>
            </p:nvSpPr>
            <p:spPr>
              <a:xfrm>
                <a:off x="5746740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Top face"/>
              <p:cNvSpPr/>
              <p:nvPr/>
            </p:nvSpPr>
            <p:spPr>
              <a:xfrm>
                <a:off x="5621796" y="628881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1" name="Assembly fuel (-1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2" name="Left face"/>
              <p:cNvSpPr/>
              <p:nvPr/>
            </p:nvSpPr>
            <p:spPr>
              <a:xfrm>
                <a:off x="5913917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Right face"/>
              <p:cNvSpPr/>
              <p:nvPr/>
            </p:nvSpPr>
            <p:spPr>
              <a:xfrm>
                <a:off x="6038860" y="639702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Top face"/>
              <p:cNvSpPr/>
              <p:nvPr/>
            </p:nvSpPr>
            <p:spPr>
              <a:xfrm>
                <a:off x="5913917" y="628881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5" name="Assembly fuel (0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6" name="Left face"/>
              <p:cNvSpPr/>
              <p:nvPr/>
            </p:nvSpPr>
            <p:spPr>
              <a:xfrm>
                <a:off x="6206038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Right face"/>
              <p:cNvSpPr/>
              <p:nvPr/>
            </p:nvSpPr>
            <p:spPr>
              <a:xfrm>
                <a:off x="6330981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Top face"/>
              <p:cNvSpPr/>
              <p:nvPr/>
            </p:nvSpPr>
            <p:spPr>
              <a:xfrm>
                <a:off x="6206038" y="628881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19" name="Cylinder glass (front)"/>
            <p:cNvSpPr/>
            <p:nvPr/>
          </p:nvSpPr>
          <p:spPr>
            <a:xfrm>
              <a:off x="4780262" y="5856849"/>
              <a:ext cx="2224149" cy="2130837"/>
            </a:xfrm>
            <a:custGeom>
              <a:avLst/>
              <a:gdLst/>
              <a:ahLst/>
              <a:cxnLst/>
              <a:rect l="0" t="0" r="r" b="b"/>
              <a:pathLst>
                <a:path w="2224149" h="2130837">
                  <a:moveTo>
                    <a:pt x="0" y="1574800"/>
                  </a:moveTo>
                  <a:lnTo>
                    <a:pt x="0" y="0"/>
                  </a:lnTo>
                  <a:cubicBezTo>
                    <a:pt x="0" y="307091"/>
                    <a:pt x="497893" y="556037"/>
                    <a:pt x="1112074" y="556037"/>
                  </a:cubicBezTo>
                  <a:cubicBezTo>
                    <a:pt x="1726256" y="556037"/>
                    <a:pt x="2224149" y="307091"/>
                    <a:pt x="2224149" y="0"/>
                  </a:cubicBezTo>
                  <a:lnTo>
                    <a:pt x="2224149" y="1574800"/>
                  </a:lnTo>
                  <a:cubicBezTo>
                    <a:pt x="2224149" y="1881891"/>
                    <a:pt x="1726256" y="2130837"/>
                    <a:pt x="1112074" y="2130837"/>
                  </a:cubicBezTo>
                  <a:cubicBezTo>
                    <a:pt x="497893" y="2130837"/>
                    <a:pt x="0" y="1881891"/>
                    <a:pt x="0" y="1574800"/>
                  </a:cubicBezTo>
                  <a:close/>
                </a:path>
              </a:pathLst>
            </a:custGeom>
            <a:solidFill>
              <a:srgbClr val="0E9270">
                <a:alpha val="1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Glass highlight"/>
            <p:cNvSpPr/>
            <p:nvPr/>
          </p:nvSpPr>
          <p:spPr>
            <a:xfrm>
              <a:off x="5003141" y="6223659"/>
              <a:ext cx="88966" cy="1566093"/>
            </a:xfrm>
            <a:custGeom>
              <a:avLst/>
              <a:gdLst/>
              <a:ahLst/>
              <a:cxnLst/>
              <a:rect l="l" t="t" r="r" b="b"/>
              <a:pathLst>
                <a:path w="88966" h="1566093">
                  <a:moveTo>
                    <a:pt x="0" y="0"/>
                  </a:moveTo>
                  <a:lnTo>
                    <a:pt x="88966" y="52253"/>
                  </a:lnTo>
                  <a:lnTo>
                    <a:pt x="88966" y="1566093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FFFFFF">
                <a:alpha val="4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1" name="Glass highlight"/>
            <p:cNvSpPr/>
            <p:nvPr/>
          </p:nvSpPr>
          <p:spPr>
            <a:xfrm>
              <a:off x="5158831" y="6307769"/>
              <a:ext cx="33362" cy="1527924"/>
            </a:xfrm>
            <a:custGeom>
              <a:avLst/>
              <a:gdLst/>
              <a:ahLst/>
              <a:cxnLst/>
              <a:rect l="l" t="t" r="r" b="b"/>
              <a:pathLst>
                <a:path w="33362" h="1527924">
                  <a:moveTo>
                    <a:pt x="0" y="0"/>
                  </a:moveTo>
                  <a:lnTo>
                    <a:pt x="33362" y="14084"/>
                  </a:lnTo>
                  <a:lnTo>
                    <a:pt x="33362" y="1527924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FFFFFF">
                <a:alpha val="231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Rim (front)"/>
            <p:cNvSpPr/>
            <p:nvPr/>
          </p:nvSpPr>
          <p:spPr>
            <a:xfrm>
              <a:off x="4780726" y="5859557"/>
              <a:ext cx="2224149" cy="556037"/>
            </a:xfrm>
            <a:custGeom>
              <a:avLst/>
              <a:gdLst/>
              <a:ahLst/>
              <a:cxnLst/>
              <a:rect l="0" t="0" r="r" b="b"/>
              <a:pathLst>
                <a:path w="2224149" h="556037" fill="none">
                  <a:moveTo>
                    <a:pt x="0" y="0"/>
                  </a:moveTo>
                  <a:cubicBezTo>
                    <a:pt x="0" y="307091"/>
                    <a:pt x="497893" y="556037"/>
                    <a:pt x="1112074" y="556037"/>
                  </a:cubicBezTo>
                  <a:cubicBezTo>
                    <a:pt x="1726256" y="556037"/>
                    <a:pt x="2224149" y="307091"/>
                    <a:pt x="2224149" y="0"/>
                  </a:cubicBezTo>
                </a:path>
              </a:pathLst>
            </a:custGeom>
            <a:noFill/>
            <a:ln w="16256" cap="rnd">
              <a:solidFill>
                <a:srgbClr val="0E9270">
                  <a:alpha val="80000"/>
                </a:srgbClr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Cylinder wall outline"/>
            <p:cNvSpPr/>
            <p:nvPr/>
          </p:nvSpPr>
          <p:spPr>
            <a:xfrm>
              <a:off x="4780726" y="5859557"/>
              <a:ext cx="2224149" cy="2130837"/>
            </a:xfrm>
            <a:custGeom>
              <a:avLst/>
              <a:gdLst/>
              <a:ahLst/>
              <a:cxnLst/>
              <a:rect l="0" t="0" r="r" b="b"/>
              <a:pathLst>
                <a:path w="2224149" h="2130837" fill="none">
                  <a:moveTo>
                    <a:pt x="0" y="0"/>
                  </a:moveTo>
                  <a:lnTo>
                    <a:pt x="0" y="1574800"/>
                  </a:lnTo>
                  <a:cubicBezTo>
                    <a:pt x="0" y="1881891"/>
                    <a:pt x="497893" y="2130837"/>
                    <a:pt x="1112074" y="2130837"/>
                  </a:cubicBezTo>
                  <a:cubicBezTo>
                    <a:pt x="1726256" y="2130837"/>
                    <a:pt x="2224149" y="1881891"/>
                    <a:pt x="2224149" y="1574800"/>
                  </a:cubicBezTo>
                  <a:lnTo>
                    <a:pt x="2224149" y="0"/>
                  </a:lnTo>
                </a:path>
              </a:pathLst>
            </a:custGeom>
            <a:noFill/>
            <a:ln w="16256" cap="rnd">
              <a:solidFill>
                <a:srgbClr val="0E9270">
                  <a:alpha val="80000"/>
                </a:srgbClr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op face">
            <a:extLst>
              <a:ext uri="{FF2B5EF4-FFF2-40B4-BE49-F238E27FC236}">
                <a16:creationId xmlns:a16="http://schemas.microsoft.com/office/drawing/2014/main" id="{8F8352AA-47AE-6B73-B08E-AD8EE577E6C2}"/>
              </a:ext>
            </a:extLst>
          </p:cNvPr>
          <p:cNvSpPr/>
          <p:nvPr/>
        </p:nvSpPr>
        <p:spPr>
          <a:xfrm>
            <a:off x="5854681" y="5988969"/>
            <a:ext cx="249886" cy="144272"/>
          </a:xfrm>
          <a:custGeom>
            <a:avLst/>
            <a:gdLst/>
            <a:ahLst/>
            <a:cxnLst/>
            <a:rect l="l" t="t" r="r" b="b"/>
            <a:pathLst>
              <a:path w="249886" h="144272">
                <a:moveTo>
                  <a:pt x="249886" y="36068"/>
                </a:moveTo>
                <a:lnTo>
                  <a:pt x="249886" y="108204"/>
                </a:lnTo>
                <a:lnTo>
                  <a:pt x="124943" y="144272"/>
                </a:lnTo>
                <a:lnTo>
                  <a:pt x="0" y="108204"/>
                </a:lnTo>
                <a:lnTo>
                  <a:pt x="0" y="36068"/>
                </a:lnTo>
                <a:lnTo>
                  <a:pt x="124943" y="0"/>
                </a:lnTo>
                <a:close/>
              </a:path>
            </a:pathLst>
          </a:custGeom>
          <a:solidFill>
            <a:srgbClr val="7CCDB2"/>
          </a:solidFill>
          <a:ln w="10160">
            <a:solidFill>
              <a:srgbClr val="AADECD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Left face">
            <a:extLst>
              <a:ext uri="{FF2B5EF4-FFF2-40B4-BE49-F238E27FC236}">
                <a16:creationId xmlns:a16="http://schemas.microsoft.com/office/drawing/2014/main" id="{00F12FCC-0FAC-E197-8AAA-F1D02DC37677}"/>
              </a:ext>
            </a:extLst>
          </p:cNvPr>
          <p:cNvSpPr/>
          <p:nvPr/>
        </p:nvSpPr>
        <p:spPr>
          <a:xfrm>
            <a:off x="5854217" y="6103919"/>
            <a:ext cx="124943" cy="1488948"/>
          </a:xfrm>
          <a:custGeom>
            <a:avLst/>
            <a:gdLst/>
            <a:ahLst/>
            <a:cxnLst/>
            <a:rect l="l" t="t" r="r" b="b"/>
            <a:pathLst>
              <a:path w="124943" h="1488948">
                <a:moveTo>
                  <a:pt x="0" y="0"/>
                </a:moveTo>
                <a:lnTo>
                  <a:pt x="124943" y="36068"/>
                </a:lnTo>
                <a:lnTo>
                  <a:pt x="124943" y="1488948"/>
                </a:lnTo>
                <a:lnTo>
                  <a:pt x="0" y="1452880"/>
                </a:lnTo>
                <a:close/>
              </a:path>
            </a:pathLst>
          </a:custGeom>
          <a:solidFill>
            <a:srgbClr val="68AC96"/>
          </a:solidFill>
          <a:ln w="8128">
            <a:solidFill>
              <a:srgbClr val="68AC96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ight face">
            <a:extLst>
              <a:ext uri="{FF2B5EF4-FFF2-40B4-BE49-F238E27FC236}">
                <a16:creationId xmlns:a16="http://schemas.microsoft.com/office/drawing/2014/main" id="{DF270AD2-47D7-1862-DF20-E48689D01F4E}"/>
              </a:ext>
            </a:extLst>
          </p:cNvPr>
          <p:cNvSpPr/>
          <p:nvPr/>
        </p:nvSpPr>
        <p:spPr>
          <a:xfrm>
            <a:off x="5979623" y="6103919"/>
            <a:ext cx="124944" cy="1488948"/>
          </a:xfrm>
          <a:custGeom>
            <a:avLst/>
            <a:gdLst/>
            <a:ahLst/>
            <a:cxnLst/>
            <a:rect l="l" t="t" r="r" b="b"/>
            <a:pathLst>
              <a:path w="124944" h="1488948">
                <a:moveTo>
                  <a:pt x="0" y="36068"/>
                </a:moveTo>
                <a:lnTo>
                  <a:pt x="124944" y="0"/>
                </a:lnTo>
                <a:lnTo>
                  <a:pt x="124944" y="1452880"/>
                </a:lnTo>
                <a:lnTo>
                  <a:pt x="0" y="1488948"/>
                </a:lnTo>
                <a:close/>
              </a:path>
            </a:pathLst>
          </a:custGeom>
          <a:solidFill>
            <a:srgbClr val="78998D"/>
          </a:solidFill>
          <a:ln w="8128">
            <a:solidFill>
              <a:srgbClr val="78998D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op face">
            <a:extLst>
              <a:ext uri="{FF2B5EF4-FFF2-40B4-BE49-F238E27FC236}">
                <a16:creationId xmlns:a16="http://schemas.microsoft.com/office/drawing/2014/main" id="{3B88406F-F619-E537-D8A0-7F2C1CA40FBB}"/>
              </a:ext>
            </a:extLst>
          </p:cNvPr>
          <p:cNvSpPr/>
          <p:nvPr/>
        </p:nvSpPr>
        <p:spPr>
          <a:xfrm>
            <a:off x="6777951" y="5988969"/>
            <a:ext cx="249886" cy="144272"/>
          </a:xfrm>
          <a:custGeom>
            <a:avLst/>
            <a:gdLst/>
            <a:ahLst/>
            <a:cxnLst/>
            <a:rect l="l" t="t" r="r" b="b"/>
            <a:pathLst>
              <a:path w="249886" h="144272">
                <a:moveTo>
                  <a:pt x="249886" y="36068"/>
                </a:moveTo>
                <a:lnTo>
                  <a:pt x="249886" y="108204"/>
                </a:lnTo>
                <a:lnTo>
                  <a:pt x="124943" y="144272"/>
                </a:lnTo>
                <a:lnTo>
                  <a:pt x="0" y="108204"/>
                </a:lnTo>
                <a:lnTo>
                  <a:pt x="0" y="36068"/>
                </a:lnTo>
                <a:lnTo>
                  <a:pt x="124943" y="0"/>
                </a:lnTo>
                <a:close/>
              </a:path>
            </a:pathLst>
          </a:custGeom>
          <a:solidFill>
            <a:srgbClr val="7CCDB2"/>
          </a:solidFill>
          <a:ln w="10160">
            <a:solidFill>
              <a:srgbClr val="AADECD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Freeform: Shape 272">
            <a:extLst>
              <a:ext uri="{FF2B5EF4-FFF2-40B4-BE49-F238E27FC236}">
                <a16:creationId xmlns:a16="http://schemas.microsoft.com/office/drawing/2014/main" id="{ED519422-5FB0-15B9-D422-E06BFAC055CD}"/>
              </a:ext>
            </a:extLst>
          </p:cNvPr>
          <p:cNvSpPr/>
          <p:nvPr/>
        </p:nvSpPr>
        <p:spPr>
          <a:xfrm>
            <a:off x="6906452" y="6102190"/>
            <a:ext cx="126206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789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61E7C765-77DD-C2CB-27C3-76D77337B11E}"/>
              </a:ext>
            </a:extLst>
          </p:cNvPr>
          <p:cNvSpPr/>
          <p:nvPr/>
        </p:nvSpPr>
        <p:spPr>
          <a:xfrm flipH="1">
            <a:off x="6773130" y="6102190"/>
            <a:ext cx="134121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68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Top face">
            <a:extLst>
              <a:ext uri="{FF2B5EF4-FFF2-40B4-BE49-F238E27FC236}">
                <a16:creationId xmlns:a16="http://schemas.microsoft.com/office/drawing/2014/main" id="{18E46CAE-0500-4926-4282-1C1C61CB5DD3}"/>
              </a:ext>
            </a:extLst>
          </p:cNvPr>
          <p:cNvSpPr/>
          <p:nvPr/>
        </p:nvSpPr>
        <p:spPr>
          <a:xfrm>
            <a:off x="6775453" y="6420853"/>
            <a:ext cx="249886" cy="144272"/>
          </a:xfrm>
          <a:custGeom>
            <a:avLst/>
            <a:gdLst/>
            <a:ahLst/>
            <a:cxnLst/>
            <a:rect l="l" t="t" r="r" b="b"/>
            <a:pathLst>
              <a:path w="249886" h="144272">
                <a:moveTo>
                  <a:pt x="249886" y="36068"/>
                </a:moveTo>
                <a:lnTo>
                  <a:pt x="249886" y="108204"/>
                </a:lnTo>
                <a:lnTo>
                  <a:pt x="124943" y="144272"/>
                </a:lnTo>
                <a:lnTo>
                  <a:pt x="0" y="108204"/>
                </a:lnTo>
                <a:lnTo>
                  <a:pt x="0" y="36068"/>
                </a:lnTo>
                <a:lnTo>
                  <a:pt x="124943" y="0"/>
                </a:lnTo>
                <a:close/>
              </a:path>
            </a:pathLst>
          </a:custGeom>
          <a:solidFill>
            <a:srgbClr val="7CCDB2"/>
          </a:solidFill>
          <a:ln w="10160">
            <a:solidFill>
              <a:srgbClr val="AADECD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Freeform: Shape 282">
            <a:extLst>
              <a:ext uri="{FF2B5EF4-FFF2-40B4-BE49-F238E27FC236}">
                <a16:creationId xmlns:a16="http://schemas.microsoft.com/office/drawing/2014/main" id="{841C0DB8-F241-3B29-472B-34A2C63DB34C}"/>
              </a:ext>
            </a:extLst>
          </p:cNvPr>
          <p:cNvSpPr/>
          <p:nvPr/>
        </p:nvSpPr>
        <p:spPr>
          <a:xfrm>
            <a:off x="6903954" y="6534074"/>
            <a:ext cx="126206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789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3EA9C7A6-846A-1FF9-5687-B3A2FF233E07}"/>
              </a:ext>
            </a:extLst>
          </p:cNvPr>
          <p:cNvSpPr/>
          <p:nvPr/>
        </p:nvSpPr>
        <p:spPr>
          <a:xfrm flipH="1">
            <a:off x="6770632" y="6534074"/>
            <a:ext cx="134121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68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op face">
            <a:extLst>
              <a:ext uri="{FF2B5EF4-FFF2-40B4-BE49-F238E27FC236}">
                <a16:creationId xmlns:a16="http://schemas.microsoft.com/office/drawing/2014/main" id="{9403ACFE-0547-AE13-A593-F31BD0EA1E86}"/>
              </a:ext>
            </a:extLst>
          </p:cNvPr>
          <p:cNvSpPr/>
          <p:nvPr/>
        </p:nvSpPr>
        <p:spPr>
          <a:xfrm>
            <a:off x="6768309" y="6854336"/>
            <a:ext cx="249886" cy="144272"/>
          </a:xfrm>
          <a:custGeom>
            <a:avLst/>
            <a:gdLst/>
            <a:ahLst/>
            <a:cxnLst/>
            <a:rect l="l" t="t" r="r" b="b"/>
            <a:pathLst>
              <a:path w="249886" h="144272">
                <a:moveTo>
                  <a:pt x="249886" y="36068"/>
                </a:moveTo>
                <a:lnTo>
                  <a:pt x="249886" y="108204"/>
                </a:lnTo>
                <a:lnTo>
                  <a:pt x="124943" y="144272"/>
                </a:lnTo>
                <a:lnTo>
                  <a:pt x="0" y="108204"/>
                </a:lnTo>
                <a:lnTo>
                  <a:pt x="0" y="36068"/>
                </a:lnTo>
                <a:lnTo>
                  <a:pt x="124943" y="0"/>
                </a:lnTo>
                <a:close/>
              </a:path>
            </a:pathLst>
          </a:custGeom>
          <a:solidFill>
            <a:srgbClr val="7CCDB2"/>
          </a:solidFill>
          <a:ln w="10160">
            <a:solidFill>
              <a:srgbClr val="AADECD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50533972-0F3D-2254-FAA7-B4A7C4CFE08B}"/>
              </a:ext>
            </a:extLst>
          </p:cNvPr>
          <p:cNvSpPr/>
          <p:nvPr/>
        </p:nvSpPr>
        <p:spPr>
          <a:xfrm>
            <a:off x="6896810" y="6967557"/>
            <a:ext cx="126206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789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Freeform: Shape 311">
            <a:extLst>
              <a:ext uri="{FF2B5EF4-FFF2-40B4-BE49-F238E27FC236}">
                <a16:creationId xmlns:a16="http://schemas.microsoft.com/office/drawing/2014/main" id="{83DA4312-A97C-090A-9848-7BB4E24C9AF8}"/>
              </a:ext>
            </a:extLst>
          </p:cNvPr>
          <p:cNvSpPr/>
          <p:nvPr/>
        </p:nvSpPr>
        <p:spPr>
          <a:xfrm flipH="1">
            <a:off x="6763488" y="6967557"/>
            <a:ext cx="134121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68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Top face">
            <a:extLst>
              <a:ext uri="{FF2B5EF4-FFF2-40B4-BE49-F238E27FC236}">
                <a16:creationId xmlns:a16="http://schemas.microsoft.com/office/drawing/2014/main" id="{E4CFC470-D031-E065-3E37-1AD0E9238DB6}"/>
              </a:ext>
            </a:extLst>
          </p:cNvPr>
          <p:cNvSpPr/>
          <p:nvPr/>
        </p:nvSpPr>
        <p:spPr>
          <a:xfrm>
            <a:off x="6773130" y="7251046"/>
            <a:ext cx="249886" cy="144272"/>
          </a:xfrm>
          <a:custGeom>
            <a:avLst/>
            <a:gdLst/>
            <a:ahLst/>
            <a:cxnLst/>
            <a:rect l="l" t="t" r="r" b="b"/>
            <a:pathLst>
              <a:path w="249886" h="144272">
                <a:moveTo>
                  <a:pt x="249886" y="36068"/>
                </a:moveTo>
                <a:lnTo>
                  <a:pt x="249886" y="108204"/>
                </a:lnTo>
                <a:lnTo>
                  <a:pt x="124943" y="144272"/>
                </a:lnTo>
                <a:lnTo>
                  <a:pt x="0" y="108204"/>
                </a:lnTo>
                <a:lnTo>
                  <a:pt x="0" y="36068"/>
                </a:lnTo>
                <a:lnTo>
                  <a:pt x="124943" y="0"/>
                </a:lnTo>
                <a:close/>
              </a:path>
            </a:pathLst>
          </a:custGeom>
          <a:solidFill>
            <a:srgbClr val="7CCDB2"/>
          </a:solidFill>
          <a:ln w="10160">
            <a:solidFill>
              <a:srgbClr val="AADECD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Freeform: Shape 319">
            <a:extLst>
              <a:ext uri="{FF2B5EF4-FFF2-40B4-BE49-F238E27FC236}">
                <a16:creationId xmlns:a16="http://schemas.microsoft.com/office/drawing/2014/main" id="{3611BD1C-31AF-FFC3-929F-679A33D3DF73}"/>
              </a:ext>
            </a:extLst>
          </p:cNvPr>
          <p:cNvSpPr/>
          <p:nvPr/>
        </p:nvSpPr>
        <p:spPr>
          <a:xfrm>
            <a:off x="6901631" y="7364267"/>
            <a:ext cx="126206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789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Freeform: Shape 321">
            <a:extLst>
              <a:ext uri="{FF2B5EF4-FFF2-40B4-BE49-F238E27FC236}">
                <a16:creationId xmlns:a16="http://schemas.microsoft.com/office/drawing/2014/main" id="{466DC8B1-1DA8-0170-4372-9E675761A255}"/>
              </a:ext>
            </a:extLst>
          </p:cNvPr>
          <p:cNvSpPr/>
          <p:nvPr/>
        </p:nvSpPr>
        <p:spPr>
          <a:xfrm flipH="1">
            <a:off x="6768309" y="7364267"/>
            <a:ext cx="134121" cy="228600"/>
          </a:xfrm>
          <a:custGeom>
            <a:avLst/>
            <a:gdLst>
              <a:gd name="csX0" fmla="*/ 0 w 126206"/>
              <a:gd name="csY0" fmla="*/ 38100 h 228600"/>
              <a:gd name="csX1" fmla="*/ 123825 w 126206"/>
              <a:gd name="csY1" fmla="*/ 0 h 228600"/>
              <a:gd name="csX2" fmla="*/ 126206 w 126206"/>
              <a:gd name="csY2" fmla="*/ 188119 h 228600"/>
              <a:gd name="csX3" fmla="*/ 0 w 126206"/>
              <a:gd name="csY3" fmla="*/ 228600 h 228600"/>
              <a:gd name="csX4" fmla="*/ 0 w 126206"/>
              <a:gd name="csY4" fmla="*/ 38100 h 22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6206" h="228600">
                <a:moveTo>
                  <a:pt x="0" y="38100"/>
                </a:moveTo>
                <a:lnTo>
                  <a:pt x="123825" y="0"/>
                </a:lnTo>
                <a:cubicBezTo>
                  <a:pt x="124619" y="62706"/>
                  <a:pt x="125412" y="125413"/>
                  <a:pt x="126206" y="188119"/>
                </a:cubicBezTo>
                <a:lnTo>
                  <a:pt x="0" y="228600"/>
                </a:lnTo>
                <a:lnTo>
                  <a:pt x="0" y="38100"/>
                </a:lnTo>
                <a:close/>
              </a:path>
            </a:pathLst>
          </a:custGeom>
          <a:solidFill>
            <a:srgbClr val="68A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7" name="Reactor Model (3D core in transparent cylinder)">
            <a:extLst>
              <a:ext uri="{FF2B5EF4-FFF2-40B4-BE49-F238E27FC236}">
                <a16:creationId xmlns:a16="http://schemas.microsoft.com/office/drawing/2014/main" id="{005EDA10-6FEE-CA75-841F-E0E52DA792DD}"/>
              </a:ext>
            </a:extLst>
          </p:cNvPr>
          <p:cNvGrpSpPr/>
          <p:nvPr/>
        </p:nvGrpSpPr>
        <p:grpSpPr>
          <a:xfrm>
            <a:off x="-1699998" y="20386"/>
            <a:ext cx="7004875" cy="8061514"/>
            <a:chOff x="0" y="0"/>
            <a:chExt cx="7004875" cy="8061514"/>
          </a:xfrm>
        </p:grpSpPr>
        <p:sp>
          <p:nvSpPr>
            <p:cNvPr id="329" name="Base plate (side)">
              <a:extLst>
                <a:ext uri="{FF2B5EF4-FFF2-40B4-BE49-F238E27FC236}">
                  <a16:creationId xmlns:a16="http://schemas.microsoft.com/office/drawing/2014/main" id="{76677255-B15A-A193-E51C-66BD6E4EAA7D}"/>
                </a:ext>
              </a:extLst>
            </p:cNvPr>
            <p:cNvSpPr/>
            <p:nvPr/>
          </p:nvSpPr>
          <p:spPr>
            <a:xfrm>
              <a:off x="4780726" y="7434357"/>
              <a:ext cx="2224149" cy="627157"/>
            </a:xfrm>
            <a:custGeom>
              <a:avLst/>
              <a:gdLst/>
              <a:ahLst/>
              <a:cxnLst/>
              <a:rect l="0" t="0" r="r" b="b"/>
              <a:pathLst>
                <a:path w="2224149" h="627157">
                  <a:moveTo>
                    <a:pt x="0" y="0"/>
                  </a:moveTo>
                  <a:cubicBezTo>
                    <a:pt x="0" y="307091"/>
                    <a:pt x="497893" y="556037"/>
                    <a:pt x="1112074" y="556037"/>
                  </a:cubicBezTo>
                  <a:cubicBezTo>
                    <a:pt x="1726256" y="556037"/>
                    <a:pt x="2224149" y="307091"/>
                    <a:pt x="2224149" y="0"/>
                  </a:cubicBezTo>
                  <a:lnTo>
                    <a:pt x="2224149" y="71120"/>
                  </a:lnTo>
                  <a:cubicBezTo>
                    <a:pt x="2224149" y="378211"/>
                    <a:pt x="1726256" y="627157"/>
                    <a:pt x="1112074" y="627157"/>
                  </a:cubicBezTo>
                  <a:cubicBezTo>
                    <a:pt x="497893" y="627157"/>
                    <a:pt x="0" y="378211"/>
                    <a:pt x="0" y="71120"/>
                  </a:cubicBezTo>
                  <a:close/>
                </a:path>
              </a:pathLst>
            </a:custGeom>
            <a:solidFill>
              <a:srgbClr val="B4E0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2" name="Base plate (top)">
              <a:extLst>
                <a:ext uri="{FF2B5EF4-FFF2-40B4-BE49-F238E27FC236}">
                  <a16:creationId xmlns:a16="http://schemas.microsoft.com/office/drawing/2014/main" id="{FFC5DB0D-6A6D-7EF7-5FF6-A9E2EB8D3D42}"/>
                </a:ext>
              </a:extLst>
            </p:cNvPr>
            <p:cNvSpPr/>
            <p:nvPr/>
          </p:nvSpPr>
          <p:spPr>
            <a:xfrm>
              <a:off x="4780726" y="6878320"/>
              <a:ext cx="2224149" cy="1112074"/>
            </a:xfrm>
            <a:prstGeom prst="ellipse">
              <a:avLst/>
            </a:prstGeom>
            <a:solidFill>
              <a:srgbClr val="E6F5EF"/>
            </a:solidFill>
            <a:ln w="12192">
              <a:solidFill>
                <a:srgbClr val="B4E0CE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35" name="Assembly fuel (0,-3)">
              <a:extLst>
                <a:ext uri="{FF2B5EF4-FFF2-40B4-BE49-F238E27FC236}">
                  <a16:creationId xmlns:a16="http://schemas.microsoft.com/office/drawing/2014/main" id="{11C45AA4-E755-0FB5-EBD9-9E09F20BE220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85" name="Left face">
                <a:extLst>
                  <a:ext uri="{FF2B5EF4-FFF2-40B4-BE49-F238E27FC236}">
                    <a16:creationId xmlns:a16="http://schemas.microsoft.com/office/drawing/2014/main" id="{4642E763-F80D-938E-79FE-FD3235F93BFB}"/>
                  </a:ext>
                </a:extLst>
              </p:cNvPr>
              <p:cNvSpPr/>
              <p:nvPr/>
            </p:nvSpPr>
            <p:spPr>
              <a:xfrm>
                <a:off x="5329676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6" name="Right face">
                <a:extLst>
                  <a:ext uri="{FF2B5EF4-FFF2-40B4-BE49-F238E27FC236}">
                    <a16:creationId xmlns:a16="http://schemas.microsoft.com/office/drawing/2014/main" id="{4E6048BF-83D4-92E5-48EA-D018DDDD0BF0}"/>
                  </a:ext>
                </a:extLst>
              </p:cNvPr>
              <p:cNvSpPr/>
              <p:nvPr/>
            </p:nvSpPr>
            <p:spPr>
              <a:xfrm>
                <a:off x="5454619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7" name="Top face">
                <a:extLst>
                  <a:ext uri="{FF2B5EF4-FFF2-40B4-BE49-F238E27FC236}">
                    <a16:creationId xmlns:a16="http://schemas.microsoft.com/office/drawing/2014/main" id="{7A9536DB-08D5-7C55-30FE-2CD8FD741A4E}"/>
                  </a:ext>
                </a:extLst>
              </p:cNvPr>
              <p:cNvSpPr/>
              <p:nvPr/>
            </p:nvSpPr>
            <p:spPr>
              <a:xfrm>
                <a:off x="5329676" y="552986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6" name="Assembly fuel (1,-3)">
              <a:extLst>
                <a:ext uri="{FF2B5EF4-FFF2-40B4-BE49-F238E27FC236}">
                  <a16:creationId xmlns:a16="http://schemas.microsoft.com/office/drawing/2014/main" id="{72A37CCC-6BF1-AD3B-B9A6-CF3ECBDE157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82" name="Left face">
                <a:extLst>
                  <a:ext uri="{FF2B5EF4-FFF2-40B4-BE49-F238E27FC236}">
                    <a16:creationId xmlns:a16="http://schemas.microsoft.com/office/drawing/2014/main" id="{52BBDFA9-85FC-C53A-D00C-57F68316E712}"/>
                  </a:ext>
                </a:extLst>
              </p:cNvPr>
              <p:cNvSpPr/>
              <p:nvPr/>
            </p:nvSpPr>
            <p:spPr>
              <a:xfrm>
                <a:off x="5621796" y="563806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3" name="Right face">
                <a:extLst>
                  <a:ext uri="{FF2B5EF4-FFF2-40B4-BE49-F238E27FC236}">
                    <a16:creationId xmlns:a16="http://schemas.microsoft.com/office/drawing/2014/main" id="{4CD13E62-A6DA-8C2A-131D-2A4C2C66FA80}"/>
                  </a:ext>
                </a:extLst>
              </p:cNvPr>
              <p:cNvSpPr/>
              <p:nvPr/>
            </p:nvSpPr>
            <p:spPr>
              <a:xfrm>
                <a:off x="5746740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4" name="Top face">
                <a:extLst>
                  <a:ext uri="{FF2B5EF4-FFF2-40B4-BE49-F238E27FC236}">
                    <a16:creationId xmlns:a16="http://schemas.microsoft.com/office/drawing/2014/main" id="{05C5DCD2-9D0E-85AC-C7CF-90885E0A309C}"/>
                  </a:ext>
                </a:extLst>
              </p:cNvPr>
              <p:cNvSpPr/>
              <p:nvPr/>
            </p:nvSpPr>
            <p:spPr>
              <a:xfrm>
                <a:off x="5621796" y="552986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7" name="Assembly fuel (2,-3)">
              <a:extLst>
                <a:ext uri="{FF2B5EF4-FFF2-40B4-BE49-F238E27FC236}">
                  <a16:creationId xmlns:a16="http://schemas.microsoft.com/office/drawing/2014/main" id="{6BAD5528-D245-7BBA-B0CF-8DFED0FFB7BE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79" name="Left face">
                <a:extLst>
                  <a:ext uri="{FF2B5EF4-FFF2-40B4-BE49-F238E27FC236}">
                    <a16:creationId xmlns:a16="http://schemas.microsoft.com/office/drawing/2014/main" id="{35167028-C955-7779-9E1F-50C0D408537A}"/>
                  </a:ext>
                </a:extLst>
              </p:cNvPr>
              <p:cNvSpPr/>
              <p:nvPr/>
            </p:nvSpPr>
            <p:spPr>
              <a:xfrm>
                <a:off x="5913917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0" name="Right face">
                <a:extLst>
                  <a:ext uri="{FF2B5EF4-FFF2-40B4-BE49-F238E27FC236}">
                    <a16:creationId xmlns:a16="http://schemas.microsoft.com/office/drawing/2014/main" id="{A98F345F-8355-778E-469F-870EB26F8912}"/>
                  </a:ext>
                </a:extLst>
              </p:cNvPr>
              <p:cNvSpPr/>
              <p:nvPr/>
            </p:nvSpPr>
            <p:spPr>
              <a:xfrm>
                <a:off x="6038860" y="563806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1" name="Top face">
                <a:extLst>
                  <a:ext uri="{FF2B5EF4-FFF2-40B4-BE49-F238E27FC236}">
                    <a16:creationId xmlns:a16="http://schemas.microsoft.com/office/drawing/2014/main" id="{09BF06A1-4EB3-F1C3-19EF-2DAE2F0B0D05}"/>
                  </a:ext>
                </a:extLst>
              </p:cNvPr>
              <p:cNvSpPr/>
              <p:nvPr/>
            </p:nvSpPr>
            <p:spPr>
              <a:xfrm>
                <a:off x="5913917" y="552986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8" name="Assembly fuel (3,-3)">
              <a:extLst>
                <a:ext uri="{FF2B5EF4-FFF2-40B4-BE49-F238E27FC236}">
                  <a16:creationId xmlns:a16="http://schemas.microsoft.com/office/drawing/2014/main" id="{E1001824-FEB8-CA9B-88AE-A74901DB94BB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76" name="Left face">
                <a:extLst>
                  <a:ext uri="{FF2B5EF4-FFF2-40B4-BE49-F238E27FC236}">
                    <a16:creationId xmlns:a16="http://schemas.microsoft.com/office/drawing/2014/main" id="{56DC3571-CDF1-FBCF-69F7-FB9D8B86C573}"/>
                  </a:ext>
                </a:extLst>
              </p:cNvPr>
              <p:cNvSpPr/>
              <p:nvPr/>
            </p:nvSpPr>
            <p:spPr>
              <a:xfrm>
                <a:off x="6206038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7" name="Right face">
                <a:extLst>
                  <a:ext uri="{FF2B5EF4-FFF2-40B4-BE49-F238E27FC236}">
                    <a16:creationId xmlns:a16="http://schemas.microsoft.com/office/drawing/2014/main" id="{CAD4DDF8-C673-3875-3C2B-159BCF903B09}"/>
                  </a:ext>
                </a:extLst>
              </p:cNvPr>
              <p:cNvSpPr/>
              <p:nvPr/>
            </p:nvSpPr>
            <p:spPr>
              <a:xfrm>
                <a:off x="6330981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8" name="Top face">
                <a:extLst>
                  <a:ext uri="{FF2B5EF4-FFF2-40B4-BE49-F238E27FC236}">
                    <a16:creationId xmlns:a16="http://schemas.microsoft.com/office/drawing/2014/main" id="{3EC3D19C-3EA1-E43B-4976-ADA3014BCCF6}"/>
                  </a:ext>
                </a:extLst>
              </p:cNvPr>
              <p:cNvSpPr/>
              <p:nvPr/>
            </p:nvSpPr>
            <p:spPr>
              <a:xfrm>
                <a:off x="6206038" y="552986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9" name="Assembly fuel (-1,-2)">
              <a:extLst>
                <a:ext uri="{FF2B5EF4-FFF2-40B4-BE49-F238E27FC236}">
                  <a16:creationId xmlns:a16="http://schemas.microsoft.com/office/drawing/2014/main" id="{65ADDC50-68E0-449A-2987-D2A64E78535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73" name="Left face">
                <a:extLst>
                  <a:ext uri="{FF2B5EF4-FFF2-40B4-BE49-F238E27FC236}">
                    <a16:creationId xmlns:a16="http://schemas.microsoft.com/office/drawing/2014/main" id="{E7C9E7E1-C8DD-7D32-392D-E5B82CC09C05}"/>
                  </a:ext>
                </a:extLst>
              </p:cNvPr>
              <p:cNvSpPr/>
              <p:nvPr/>
            </p:nvSpPr>
            <p:spPr>
              <a:xfrm>
                <a:off x="5183615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4" name="Right face">
                <a:extLst>
                  <a:ext uri="{FF2B5EF4-FFF2-40B4-BE49-F238E27FC236}">
                    <a16:creationId xmlns:a16="http://schemas.microsoft.com/office/drawing/2014/main" id="{02B4367C-162D-A19C-2A28-CCD45A0A6DA1}"/>
                  </a:ext>
                </a:extLst>
              </p:cNvPr>
              <p:cNvSpPr/>
              <p:nvPr/>
            </p:nvSpPr>
            <p:spPr>
              <a:xfrm>
                <a:off x="5308558" y="576456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5" name="Top face">
                <a:extLst>
                  <a:ext uri="{FF2B5EF4-FFF2-40B4-BE49-F238E27FC236}">
                    <a16:creationId xmlns:a16="http://schemas.microsoft.com/office/drawing/2014/main" id="{64FB04EE-A333-6C6F-312C-34FB30AE7500}"/>
                  </a:ext>
                </a:extLst>
              </p:cNvPr>
              <p:cNvSpPr/>
              <p:nvPr/>
            </p:nvSpPr>
            <p:spPr>
              <a:xfrm>
                <a:off x="5183615" y="565635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0" name="Assembly control (0,-2)">
              <a:extLst>
                <a:ext uri="{FF2B5EF4-FFF2-40B4-BE49-F238E27FC236}">
                  <a16:creationId xmlns:a16="http://schemas.microsoft.com/office/drawing/2014/main" id="{96834613-AAFE-8D4E-4461-D7B5F4F2D98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70" name="Left face">
                <a:extLst>
                  <a:ext uri="{FF2B5EF4-FFF2-40B4-BE49-F238E27FC236}">
                    <a16:creationId xmlns:a16="http://schemas.microsoft.com/office/drawing/2014/main" id="{20E099F2-235A-B412-EEBF-16F6AC9B35A3}"/>
                  </a:ext>
                </a:extLst>
              </p:cNvPr>
              <p:cNvSpPr/>
              <p:nvPr/>
            </p:nvSpPr>
            <p:spPr>
              <a:xfrm>
                <a:off x="5475736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1" name="Right face">
                <a:extLst>
                  <a:ext uri="{FF2B5EF4-FFF2-40B4-BE49-F238E27FC236}">
                    <a16:creationId xmlns:a16="http://schemas.microsoft.com/office/drawing/2014/main" id="{304FD762-742D-13F5-E2C5-04F5F595A3B6}"/>
                  </a:ext>
                </a:extLst>
              </p:cNvPr>
              <p:cNvSpPr/>
              <p:nvPr/>
            </p:nvSpPr>
            <p:spPr>
              <a:xfrm>
                <a:off x="5600679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2" name="Top face">
                <a:extLst>
                  <a:ext uri="{FF2B5EF4-FFF2-40B4-BE49-F238E27FC236}">
                    <a16:creationId xmlns:a16="http://schemas.microsoft.com/office/drawing/2014/main" id="{7C5D8D41-4C18-8AA8-B151-24412A521BC7}"/>
                  </a:ext>
                </a:extLst>
              </p:cNvPr>
              <p:cNvSpPr/>
              <p:nvPr/>
            </p:nvSpPr>
            <p:spPr>
              <a:xfrm>
                <a:off x="5475736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1" name="Assembly fuel (1,-2)">
              <a:extLst>
                <a:ext uri="{FF2B5EF4-FFF2-40B4-BE49-F238E27FC236}">
                  <a16:creationId xmlns:a16="http://schemas.microsoft.com/office/drawing/2014/main" id="{3D183560-13D4-80DD-41E1-ACB11E715036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67" name="Left face">
                <a:extLst>
                  <a:ext uri="{FF2B5EF4-FFF2-40B4-BE49-F238E27FC236}">
                    <a16:creationId xmlns:a16="http://schemas.microsoft.com/office/drawing/2014/main" id="{79D0E62D-5EE6-3D2B-F832-3848BF4E365E}"/>
                  </a:ext>
                </a:extLst>
              </p:cNvPr>
              <p:cNvSpPr/>
              <p:nvPr/>
            </p:nvSpPr>
            <p:spPr>
              <a:xfrm>
                <a:off x="5767857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8" name="Right face">
                <a:extLst>
                  <a:ext uri="{FF2B5EF4-FFF2-40B4-BE49-F238E27FC236}">
                    <a16:creationId xmlns:a16="http://schemas.microsoft.com/office/drawing/2014/main" id="{ABF1AF9C-CE1E-2924-91A7-719D45D7D879}"/>
                  </a:ext>
                </a:extLst>
              </p:cNvPr>
              <p:cNvSpPr/>
              <p:nvPr/>
            </p:nvSpPr>
            <p:spPr>
              <a:xfrm>
                <a:off x="5892800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9" name="Top face">
                <a:extLst>
                  <a:ext uri="{FF2B5EF4-FFF2-40B4-BE49-F238E27FC236}">
                    <a16:creationId xmlns:a16="http://schemas.microsoft.com/office/drawing/2014/main" id="{B1344435-AE12-7558-0019-9AB3D6478979}"/>
                  </a:ext>
                </a:extLst>
              </p:cNvPr>
              <p:cNvSpPr/>
              <p:nvPr/>
            </p:nvSpPr>
            <p:spPr>
              <a:xfrm>
                <a:off x="5767857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2" name="Assembly control (2,-2)">
              <a:extLst>
                <a:ext uri="{FF2B5EF4-FFF2-40B4-BE49-F238E27FC236}">
                  <a16:creationId xmlns:a16="http://schemas.microsoft.com/office/drawing/2014/main" id="{3FE18ADF-FCAD-BE40-10E8-201AD2D005D5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64" name="Left face">
                <a:extLst>
                  <a:ext uri="{FF2B5EF4-FFF2-40B4-BE49-F238E27FC236}">
                    <a16:creationId xmlns:a16="http://schemas.microsoft.com/office/drawing/2014/main" id="{4DAEAA41-59D3-752D-AF27-77D9E28C78EF}"/>
                  </a:ext>
                </a:extLst>
              </p:cNvPr>
              <p:cNvSpPr/>
              <p:nvPr/>
            </p:nvSpPr>
            <p:spPr>
              <a:xfrm>
                <a:off x="6059978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5" name="Right face">
                <a:extLst>
                  <a:ext uri="{FF2B5EF4-FFF2-40B4-BE49-F238E27FC236}">
                    <a16:creationId xmlns:a16="http://schemas.microsoft.com/office/drawing/2014/main" id="{CC8FF8CE-7586-B302-A097-D43841D7046C}"/>
                  </a:ext>
                </a:extLst>
              </p:cNvPr>
              <p:cNvSpPr/>
              <p:nvPr/>
            </p:nvSpPr>
            <p:spPr>
              <a:xfrm>
                <a:off x="6184921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6" name="Top face">
                <a:extLst>
                  <a:ext uri="{FF2B5EF4-FFF2-40B4-BE49-F238E27FC236}">
                    <a16:creationId xmlns:a16="http://schemas.microsoft.com/office/drawing/2014/main" id="{C3DB4734-FD11-0E02-574E-0B8FBC4119A4}"/>
                  </a:ext>
                </a:extLst>
              </p:cNvPr>
              <p:cNvSpPr/>
              <p:nvPr/>
            </p:nvSpPr>
            <p:spPr>
              <a:xfrm>
                <a:off x="6059978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3" name="Assembly fuel (3,-2)">
              <a:extLst>
                <a:ext uri="{FF2B5EF4-FFF2-40B4-BE49-F238E27FC236}">
                  <a16:creationId xmlns:a16="http://schemas.microsoft.com/office/drawing/2014/main" id="{38BBD92E-B499-FB29-CDAF-2D920AA28A3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61" name="Left face">
                <a:extLst>
                  <a:ext uri="{FF2B5EF4-FFF2-40B4-BE49-F238E27FC236}">
                    <a16:creationId xmlns:a16="http://schemas.microsoft.com/office/drawing/2014/main" id="{7EABF56A-BE47-C66C-1524-FEA682E69AD3}"/>
                  </a:ext>
                </a:extLst>
              </p:cNvPr>
              <p:cNvSpPr/>
              <p:nvPr/>
            </p:nvSpPr>
            <p:spPr>
              <a:xfrm>
                <a:off x="6352098" y="576456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2" name="Right face">
                <a:extLst>
                  <a:ext uri="{FF2B5EF4-FFF2-40B4-BE49-F238E27FC236}">
                    <a16:creationId xmlns:a16="http://schemas.microsoft.com/office/drawing/2014/main" id="{5660E3C7-9F36-BCEA-7860-8ED09D538A9E}"/>
                  </a:ext>
                </a:extLst>
              </p:cNvPr>
              <p:cNvSpPr/>
              <p:nvPr/>
            </p:nvSpPr>
            <p:spPr>
              <a:xfrm>
                <a:off x="6477042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3" name="Top face">
                <a:extLst>
                  <a:ext uri="{FF2B5EF4-FFF2-40B4-BE49-F238E27FC236}">
                    <a16:creationId xmlns:a16="http://schemas.microsoft.com/office/drawing/2014/main" id="{7085077D-EF05-5B8D-0618-C9FE492D3F40}"/>
                  </a:ext>
                </a:extLst>
              </p:cNvPr>
              <p:cNvSpPr/>
              <p:nvPr/>
            </p:nvSpPr>
            <p:spPr>
              <a:xfrm>
                <a:off x="6352098" y="565635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4" name="Assembly fuel (-2,-1)">
              <a:extLst>
                <a:ext uri="{FF2B5EF4-FFF2-40B4-BE49-F238E27FC236}">
                  <a16:creationId xmlns:a16="http://schemas.microsoft.com/office/drawing/2014/main" id="{B1BF03C4-44AC-9A31-E102-F7E2D27E237E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58" name="Left face">
                <a:extLst>
                  <a:ext uri="{FF2B5EF4-FFF2-40B4-BE49-F238E27FC236}">
                    <a16:creationId xmlns:a16="http://schemas.microsoft.com/office/drawing/2014/main" id="{476A7FD9-4AAE-1D4E-B4A4-D08AA3C4B956}"/>
                  </a:ext>
                </a:extLst>
              </p:cNvPr>
              <p:cNvSpPr/>
              <p:nvPr/>
            </p:nvSpPr>
            <p:spPr>
              <a:xfrm>
                <a:off x="5037555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9" name="Right face">
                <a:extLst>
                  <a:ext uri="{FF2B5EF4-FFF2-40B4-BE49-F238E27FC236}">
                    <a16:creationId xmlns:a16="http://schemas.microsoft.com/office/drawing/2014/main" id="{2A07E11A-9840-8E7D-354F-3D54B2130A66}"/>
                  </a:ext>
                </a:extLst>
              </p:cNvPr>
              <p:cNvSpPr/>
              <p:nvPr/>
            </p:nvSpPr>
            <p:spPr>
              <a:xfrm>
                <a:off x="5162498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0" name="Top face">
                <a:extLst>
                  <a:ext uri="{FF2B5EF4-FFF2-40B4-BE49-F238E27FC236}">
                    <a16:creationId xmlns:a16="http://schemas.microsoft.com/office/drawing/2014/main" id="{BEE665B4-A4DF-4963-A56D-315158ECA9DE}"/>
                  </a:ext>
                </a:extLst>
              </p:cNvPr>
              <p:cNvSpPr/>
              <p:nvPr/>
            </p:nvSpPr>
            <p:spPr>
              <a:xfrm>
                <a:off x="5037555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5" name="Assembly fuel (-1,-1)">
              <a:extLst>
                <a:ext uri="{FF2B5EF4-FFF2-40B4-BE49-F238E27FC236}">
                  <a16:creationId xmlns:a16="http://schemas.microsoft.com/office/drawing/2014/main" id="{38FA3B0B-76DB-12C7-6FC6-EECB2D98D88B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55" name="Left face">
                <a:extLst>
                  <a:ext uri="{FF2B5EF4-FFF2-40B4-BE49-F238E27FC236}">
                    <a16:creationId xmlns:a16="http://schemas.microsoft.com/office/drawing/2014/main" id="{B3557F14-D9D4-CF66-D0D7-9513A0E5BC88}"/>
                  </a:ext>
                </a:extLst>
              </p:cNvPr>
              <p:cNvSpPr/>
              <p:nvPr/>
            </p:nvSpPr>
            <p:spPr>
              <a:xfrm>
                <a:off x="5329676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6" name="Right face">
                <a:extLst>
                  <a:ext uri="{FF2B5EF4-FFF2-40B4-BE49-F238E27FC236}">
                    <a16:creationId xmlns:a16="http://schemas.microsoft.com/office/drawing/2014/main" id="{D5D35742-A636-DFF7-1CA3-B0BDD835E951}"/>
                  </a:ext>
                </a:extLst>
              </p:cNvPr>
              <p:cNvSpPr/>
              <p:nvPr/>
            </p:nvSpPr>
            <p:spPr>
              <a:xfrm>
                <a:off x="5454619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7" name="Top face">
                <a:extLst>
                  <a:ext uri="{FF2B5EF4-FFF2-40B4-BE49-F238E27FC236}">
                    <a16:creationId xmlns:a16="http://schemas.microsoft.com/office/drawing/2014/main" id="{716A015E-AC99-6E6C-E960-A3E28C44E40E}"/>
                  </a:ext>
                </a:extLst>
              </p:cNvPr>
              <p:cNvSpPr/>
              <p:nvPr/>
            </p:nvSpPr>
            <p:spPr>
              <a:xfrm>
                <a:off x="5329676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6" name="Assembly fuel (0,-1)">
              <a:extLst>
                <a:ext uri="{FF2B5EF4-FFF2-40B4-BE49-F238E27FC236}">
                  <a16:creationId xmlns:a16="http://schemas.microsoft.com/office/drawing/2014/main" id="{2D624831-E500-EC69-02D8-9C38DD3A3911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52" name="Left face">
                <a:extLst>
                  <a:ext uri="{FF2B5EF4-FFF2-40B4-BE49-F238E27FC236}">
                    <a16:creationId xmlns:a16="http://schemas.microsoft.com/office/drawing/2014/main" id="{119E7AA0-4F0E-F7F3-906B-90CD38CF4A96}"/>
                  </a:ext>
                </a:extLst>
              </p:cNvPr>
              <p:cNvSpPr/>
              <p:nvPr/>
            </p:nvSpPr>
            <p:spPr>
              <a:xfrm>
                <a:off x="5621796" y="5891053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3" name="Right face">
                <a:extLst>
                  <a:ext uri="{FF2B5EF4-FFF2-40B4-BE49-F238E27FC236}">
                    <a16:creationId xmlns:a16="http://schemas.microsoft.com/office/drawing/2014/main" id="{7A7A5DE5-0BE3-2C63-8E14-A75EA305C000}"/>
                  </a:ext>
                </a:extLst>
              </p:cNvPr>
              <p:cNvSpPr/>
              <p:nvPr/>
            </p:nvSpPr>
            <p:spPr>
              <a:xfrm>
                <a:off x="5746740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4" name="Top face">
                <a:extLst>
                  <a:ext uri="{FF2B5EF4-FFF2-40B4-BE49-F238E27FC236}">
                    <a16:creationId xmlns:a16="http://schemas.microsoft.com/office/drawing/2014/main" id="{FAECF911-00E9-B65C-194C-D14210B726C7}"/>
                  </a:ext>
                </a:extLst>
              </p:cNvPr>
              <p:cNvSpPr/>
              <p:nvPr/>
            </p:nvSpPr>
            <p:spPr>
              <a:xfrm>
                <a:off x="5621796" y="5782849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7" name="Assembly fuel (1,-1)">
              <a:extLst>
                <a:ext uri="{FF2B5EF4-FFF2-40B4-BE49-F238E27FC236}">
                  <a16:creationId xmlns:a16="http://schemas.microsoft.com/office/drawing/2014/main" id="{06B901FC-0277-35B8-E375-395878873C8C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49" name="Left face">
                <a:extLst>
                  <a:ext uri="{FF2B5EF4-FFF2-40B4-BE49-F238E27FC236}">
                    <a16:creationId xmlns:a16="http://schemas.microsoft.com/office/drawing/2014/main" id="{38CAA445-7499-31F0-21DE-12B7E1C78D2C}"/>
                  </a:ext>
                </a:extLst>
              </p:cNvPr>
              <p:cNvSpPr/>
              <p:nvPr/>
            </p:nvSpPr>
            <p:spPr>
              <a:xfrm>
                <a:off x="5913917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0" name="Right face">
                <a:extLst>
                  <a:ext uri="{FF2B5EF4-FFF2-40B4-BE49-F238E27FC236}">
                    <a16:creationId xmlns:a16="http://schemas.microsoft.com/office/drawing/2014/main" id="{978A0C81-934B-44E4-D0B7-2492E13A1B98}"/>
                  </a:ext>
                </a:extLst>
              </p:cNvPr>
              <p:cNvSpPr/>
              <p:nvPr/>
            </p:nvSpPr>
            <p:spPr>
              <a:xfrm>
                <a:off x="6038860" y="5891053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1" name="Top face">
                <a:extLst>
                  <a:ext uri="{FF2B5EF4-FFF2-40B4-BE49-F238E27FC236}">
                    <a16:creationId xmlns:a16="http://schemas.microsoft.com/office/drawing/2014/main" id="{642C190E-CDF7-C962-D6D3-D3B811C025E5}"/>
                  </a:ext>
                </a:extLst>
              </p:cNvPr>
              <p:cNvSpPr/>
              <p:nvPr/>
            </p:nvSpPr>
            <p:spPr>
              <a:xfrm>
                <a:off x="5913917" y="5782849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8" name="Assembly fuel (2,-1)">
              <a:extLst>
                <a:ext uri="{FF2B5EF4-FFF2-40B4-BE49-F238E27FC236}">
                  <a16:creationId xmlns:a16="http://schemas.microsoft.com/office/drawing/2014/main" id="{502797AF-43DD-86FF-04C2-8970D6B7F4D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46" name="Left face">
                <a:extLst>
                  <a:ext uri="{FF2B5EF4-FFF2-40B4-BE49-F238E27FC236}">
                    <a16:creationId xmlns:a16="http://schemas.microsoft.com/office/drawing/2014/main" id="{32F41DDF-EB11-E72D-75BB-8D59FC855E8A}"/>
                  </a:ext>
                </a:extLst>
              </p:cNvPr>
              <p:cNvSpPr/>
              <p:nvPr/>
            </p:nvSpPr>
            <p:spPr>
              <a:xfrm>
                <a:off x="6206038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7" name="Right face">
                <a:extLst>
                  <a:ext uri="{FF2B5EF4-FFF2-40B4-BE49-F238E27FC236}">
                    <a16:creationId xmlns:a16="http://schemas.microsoft.com/office/drawing/2014/main" id="{25CF8598-5104-677A-87D6-47F73AEBE284}"/>
                  </a:ext>
                </a:extLst>
              </p:cNvPr>
              <p:cNvSpPr/>
              <p:nvPr/>
            </p:nvSpPr>
            <p:spPr>
              <a:xfrm>
                <a:off x="6330981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8" name="Top face">
                <a:extLst>
                  <a:ext uri="{FF2B5EF4-FFF2-40B4-BE49-F238E27FC236}">
                    <a16:creationId xmlns:a16="http://schemas.microsoft.com/office/drawing/2014/main" id="{12DDDBBA-B256-878E-1F03-640B519D6253}"/>
                  </a:ext>
                </a:extLst>
              </p:cNvPr>
              <p:cNvSpPr/>
              <p:nvPr/>
            </p:nvSpPr>
            <p:spPr>
              <a:xfrm>
                <a:off x="6206038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9" name="Assembly fuel (3,-1)">
              <a:extLst>
                <a:ext uri="{FF2B5EF4-FFF2-40B4-BE49-F238E27FC236}">
                  <a16:creationId xmlns:a16="http://schemas.microsoft.com/office/drawing/2014/main" id="{6DCACE15-211A-41D8-6545-2E5E28B5B6D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43" name="Left face">
                <a:extLst>
                  <a:ext uri="{FF2B5EF4-FFF2-40B4-BE49-F238E27FC236}">
                    <a16:creationId xmlns:a16="http://schemas.microsoft.com/office/drawing/2014/main" id="{D113AA55-7D19-50C2-9652-F42B34B3E083}"/>
                  </a:ext>
                </a:extLst>
              </p:cNvPr>
              <p:cNvSpPr/>
              <p:nvPr/>
            </p:nvSpPr>
            <p:spPr>
              <a:xfrm>
                <a:off x="6498159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4" name="Right face">
                <a:extLst>
                  <a:ext uri="{FF2B5EF4-FFF2-40B4-BE49-F238E27FC236}">
                    <a16:creationId xmlns:a16="http://schemas.microsoft.com/office/drawing/2014/main" id="{DDF34612-04CF-EE7F-6E4B-A9ABB4794FEE}"/>
                  </a:ext>
                </a:extLst>
              </p:cNvPr>
              <p:cNvSpPr/>
              <p:nvPr/>
            </p:nvSpPr>
            <p:spPr>
              <a:xfrm>
                <a:off x="6623102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5" name="Top face">
                <a:extLst>
                  <a:ext uri="{FF2B5EF4-FFF2-40B4-BE49-F238E27FC236}">
                    <a16:creationId xmlns:a16="http://schemas.microsoft.com/office/drawing/2014/main" id="{173C7B2F-F46C-665A-113C-C2D3AF797C01}"/>
                  </a:ext>
                </a:extLst>
              </p:cNvPr>
              <p:cNvSpPr/>
              <p:nvPr/>
            </p:nvSpPr>
            <p:spPr>
              <a:xfrm>
                <a:off x="6498159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0" name="Assembly fuel (-3,0)">
              <a:extLst>
                <a:ext uri="{FF2B5EF4-FFF2-40B4-BE49-F238E27FC236}">
                  <a16:creationId xmlns:a16="http://schemas.microsoft.com/office/drawing/2014/main" id="{8838853D-E9C6-78CA-CCDC-AD8BF8E1AEF0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40" name="Left face">
                <a:extLst>
                  <a:ext uri="{FF2B5EF4-FFF2-40B4-BE49-F238E27FC236}">
                    <a16:creationId xmlns:a16="http://schemas.microsoft.com/office/drawing/2014/main" id="{556B0624-3CD4-D696-F294-B562CB44F540}"/>
                  </a:ext>
                </a:extLst>
              </p:cNvPr>
              <p:cNvSpPr/>
              <p:nvPr/>
            </p:nvSpPr>
            <p:spPr>
              <a:xfrm>
                <a:off x="4891494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1" name="Right face">
                <a:extLst>
                  <a:ext uri="{FF2B5EF4-FFF2-40B4-BE49-F238E27FC236}">
                    <a16:creationId xmlns:a16="http://schemas.microsoft.com/office/drawing/2014/main" id="{AC9780E7-449E-D5B8-4E46-6B2B02C5268B}"/>
                  </a:ext>
                </a:extLst>
              </p:cNvPr>
              <p:cNvSpPr/>
              <p:nvPr/>
            </p:nvSpPr>
            <p:spPr>
              <a:xfrm>
                <a:off x="5016438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2" name="Top face">
                <a:extLst>
                  <a:ext uri="{FF2B5EF4-FFF2-40B4-BE49-F238E27FC236}">
                    <a16:creationId xmlns:a16="http://schemas.microsoft.com/office/drawing/2014/main" id="{13073FF4-5B2D-23B6-5F7D-9EF44646D1D7}"/>
                  </a:ext>
                </a:extLst>
              </p:cNvPr>
              <p:cNvSpPr/>
              <p:nvPr/>
            </p:nvSpPr>
            <p:spPr>
              <a:xfrm>
                <a:off x="4891494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1" name="Assembly control (-2,0)">
              <a:extLst>
                <a:ext uri="{FF2B5EF4-FFF2-40B4-BE49-F238E27FC236}">
                  <a16:creationId xmlns:a16="http://schemas.microsoft.com/office/drawing/2014/main" id="{6B314285-409C-681C-5437-4C298C905ED4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37" name="Left face">
                <a:extLst>
                  <a:ext uri="{FF2B5EF4-FFF2-40B4-BE49-F238E27FC236}">
                    <a16:creationId xmlns:a16="http://schemas.microsoft.com/office/drawing/2014/main" id="{D94695CA-D8CC-C47C-C9FB-C2FA6A2A48BB}"/>
                  </a:ext>
                </a:extLst>
              </p:cNvPr>
              <p:cNvSpPr/>
              <p:nvPr/>
            </p:nvSpPr>
            <p:spPr>
              <a:xfrm>
                <a:off x="5183615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8" name="Right face">
                <a:extLst>
                  <a:ext uri="{FF2B5EF4-FFF2-40B4-BE49-F238E27FC236}">
                    <a16:creationId xmlns:a16="http://schemas.microsoft.com/office/drawing/2014/main" id="{E95E97A2-4F7A-F78C-343E-87B566227849}"/>
                  </a:ext>
                </a:extLst>
              </p:cNvPr>
              <p:cNvSpPr/>
              <p:nvPr/>
            </p:nvSpPr>
            <p:spPr>
              <a:xfrm>
                <a:off x="5308558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Top face">
                <a:extLst>
                  <a:ext uri="{FF2B5EF4-FFF2-40B4-BE49-F238E27FC236}">
                    <a16:creationId xmlns:a16="http://schemas.microsoft.com/office/drawing/2014/main" id="{D8A6674C-9608-7842-20DF-209FBBC55FFF}"/>
                  </a:ext>
                </a:extLst>
              </p:cNvPr>
              <p:cNvSpPr/>
              <p:nvPr/>
            </p:nvSpPr>
            <p:spPr>
              <a:xfrm>
                <a:off x="5183615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2" name="Assembly fuel (-1,0)">
              <a:extLst>
                <a:ext uri="{FF2B5EF4-FFF2-40B4-BE49-F238E27FC236}">
                  <a16:creationId xmlns:a16="http://schemas.microsoft.com/office/drawing/2014/main" id="{13C6E581-5BE5-7197-4E58-E0C552DD7E8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34" name="Left face">
                <a:extLst>
                  <a:ext uri="{FF2B5EF4-FFF2-40B4-BE49-F238E27FC236}">
                    <a16:creationId xmlns:a16="http://schemas.microsoft.com/office/drawing/2014/main" id="{39228E34-1F55-6059-7D61-D1F32AF564F0}"/>
                  </a:ext>
                </a:extLst>
              </p:cNvPr>
              <p:cNvSpPr/>
              <p:nvPr/>
            </p:nvSpPr>
            <p:spPr>
              <a:xfrm>
                <a:off x="5475736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5" name="Right face">
                <a:extLst>
                  <a:ext uri="{FF2B5EF4-FFF2-40B4-BE49-F238E27FC236}">
                    <a16:creationId xmlns:a16="http://schemas.microsoft.com/office/drawing/2014/main" id="{E583435D-009E-41EF-0D5C-705A1F310B92}"/>
                  </a:ext>
                </a:extLst>
              </p:cNvPr>
              <p:cNvSpPr/>
              <p:nvPr/>
            </p:nvSpPr>
            <p:spPr>
              <a:xfrm>
                <a:off x="5600679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6" name="Top face">
                <a:extLst>
                  <a:ext uri="{FF2B5EF4-FFF2-40B4-BE49-F238E27FC236}">
                    <a16:creationId xmlns:a16="http://schemas.microsoft.com/office/drawing/2014/main" id="{8D4F8651-08E3-7291-6505-62FEC55C0D89}"/>
                  </a:ext>
                </a:extLst>
              </p:cNvPr>
              <p:cNvSpPr/>
              <p:nvPr/>
            </p:nvSpPr>
            <p:spPr>
              <a:xfrm>
                <a:off x="5475736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3" name="Assembly fuel (0,0)">
              <a:extLst>
                <a:ext uri="{FF2B5EF4-FFF2-40B4-BE49-F238E27FC236}">
                  <a16:creationId xmlns:a16="http://schemas.microsoft.com/office/drawing/2014/main" id="{ED85313D-182E-5BB6-B104-6FF16C6BA62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31" name="Left face">
                <a:extLst>
                  <a:ext uri="{FF2B5EF4-FFF2-40B4-BE49-F238E27FC236}">
                    <a16:creationId xmlns:a16="http://schemas.microsoft.com/office/drawing/2014/main" id="{F5F1D4A3-3411-50D5-5644-9856193FE916}"/>
                  </a:ext>
                </a:extLst>
              </p:cNvPr>
              <p:cNvSpPr/>
              <p:nvPr/>
            </p:nvSpPr>
            <p:spPr>
              <a:xfrm>
                <a:off x="5767857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C7B5E"/>
              </a:solidFill>
              <a:ln w="8128">
                <a:solidFill>
                  <a:srgbClr val="0C7B5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2" name="Right face">
                <a:extLst>
                  <a:ext uri="{FF2B5EF4-FFF2-40B4-BE49-F238E27FC236}">
                    <a16:creationId xmlns:a16="http://schemas.microsoft.com/office/drawing/2014/main" id="{4C8C16CF-C563-15B3-6A84-A42338349576}"/>
                  </a:ext>
                </a:extLst>
              </p:cNvPr>
              <p:cNvSpPr/>
              <p:nvPr/>
            </p:nvSpPr>
            <p:spPr>
              <a:xfrm>
                <a:off x="5892800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A634C"/>
              </a:solidFill>
              <a:ln w="8128">
                <a:solidFill>
                  <a:srgbClr val="0A634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3" name="Top face">
                <a:extLst>
                  <a:ext uri="{FF2B5EF4-FFF2-40B4-BE49-F238E27FC236}">
                    <a16:creationId xmlns:a16="http://schemas.microsoft.com/office/drawing/2014/main" id="{405F71F7-CD14-F387-4484-569E7E94617F}"/>
                  </a:ext>
                </a:extLst>
              </p:cNvPr>
              <p:cNvSpPr/>
              <p:nvPr/>
            </p:nvSpPr>
            <p:spPr>
              <a:xfrm>
                <a:off x="5767857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E9270"/>
              </a:solidFill>
              <a:ln w="10160">
                <a:solidFill>
                  <a:srgbClr val="62B8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4" name="Assembly fuel (1,0)">
              <a:extLst>
                <a:ext uri="{FF2B5EF4-FFF2-40B4-BE49-F238E27FC236}">
                  <a16:creationId xmlns:a16="http://schemas.microsoft.com/office/drawing/2014/main" id="{3C872278-283E-B78F-2C0F-B054318A99E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28" name="Left face">
                <a:extLst>
                  <a:ext uri="{FF2B5EF4-FFF2-40B4-BE49-F238E27FC236}">
                    <a16:creationId xmlns:a16="http://schemas.microsoft.com/office/drawing/2014/main" id="{AF0BE74A-4A09-4A11-91A8-214982DAD3DE}"/>
                  </a:ext>
                </a:extLst>
              </p:cNvPr>
              <p:cNvSpPr/>
              <p:nvPr/>
            </p:nvSpPr>
            <p:spPr>
              <a:xfrm>
                <a:off x="6059978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9" name="Right face">
                <a:extLst>
                  <a:ext uri="{FF2B5EF4-FFF2-40B4-BE49-F238E27FC236}">
                    <a16:creationId xmlns:a16="http://schemas.microsoft.com/office/drawing/2014/main" id="{14833189-B5FD-B514-A648-DC71F743B650}"/>
                  </a:ext>
                </a:extLst>
              </p:cNvPr>
              <p:cNvSpPr/>
              <p:nvPr/>
            </p:nvSpPr>
            <p:spPr>
              <a:xfrm>
                <a:off x="6184921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0" name="Top face">
                <a:extLst>
                  <a:ext uri="{FF2B5EF4-FFF2-40B4-BE49-F238E27FC236}">
                    <a16:creationId xmlns:a16="http://schemas.microsoft.com/office/drawing/2014/main" id="{CC4FC205-F589-8A8C-E89B-F9FB0D82262F}"/>
                  </a:ext>
                </a:extLst>
              </p:cNvPr>
              <p:cNvSpPr/>
              <p:nvPr/>
            </p:nvSpPr>
            <p:spPr>
              <a:xfrm>
                <a:off x="6059978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5" name="Assembly control (2,0)">
              <a:extLst>
                <a:ext uri="{FF2B5EF4-FFF2-40B4-BE49-F238E27FC236}">
                  <a16:creationId xmlns:a16="http://schemas.microsoft.com/office/drawing/2014/main" id="{B3B010BD-A0D2-EFEF-5920-04D1C4ED6FA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25" name="Left face">
                <a:extLst>
                  <a:ext uri="{FF2B5EF4-FFF2-40B4-BE49-F238E27FC236}">
                    <a16:creationId xmlns:a16="http://schemas.microsoft.com/office/drawing/2014/main" id="{1A484C2D-BF06-5A72-A0DE-531D8FC25135}"/>
                  </a:ext>
                </a:extLst>
              </p:cNvPr>
              <p:cNvSpPr/>
              <p:nvPr/>
            </p:nvSpPr>
            <p:spPr>
              <a:xfrm>
                <a:off x="6352098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6" name="Right face">
                <a:extLst>
                  <a:ext uri="{FF2B5EF4-FFF2-40B4-BE49-F238E27FC236}">
                    <a16:creationId xmlns:a16="http://schemas.microsoft.com/office/drawing/2014/main" id="{21C4A269-E5A3-9926-A43D-43E0D00416CC}"/>
                  </a:ext>
                </a:extLst>
              </p:cNvPr>
              <p:cNvSpPr/>
              <p:nvPr/>
            </p:nvSpPr>
            <p:spPr>
              <a:xfrm>
                <a:off x="6477042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7" name="Top face">
                <a:extLst>
                  <a:ext uri="{FF2B5EF4-FFF2-40B4-BE49-F238E27FC236}">
                    <a16:creationId xmlns:a16="http://schemas.microsoft.com/office/drawing/2014/main" id="{6418159D-17B4-696C-22C3-3FF66AB7181C}"/>
                  </a:ext>
                </a:extLst>
              </p:cNvPr>
              <p:cNvSpPr/>
              <p:nvPr/>
            </p:nvSpPr>
            <p:spPr>
              <a:xfrm>
                <a:off x="6352098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6" name="Assembly fuel (3,0)">
              <a:extLst>
                <a:ext uri="{FF2B5EF4-FFF2-40B4-BE49-F238E27FC236}">
                  <a16:creationId xmlns:a16="http://schemas.microsoft.com/office/drawing/2014/main" id="{D3DB4961-5991-B73F-2F17-AAC41A91894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22" name="Left face">
                <a:extLst>
                  <a:ext uri="{FF2B5EF4-FFF2-40B4-BE49-F238E27FC236}">
                    <a16:creationId xmlns:a16="http://schemas.microsoft.com/office/drawing/2014/main" id="{107BA2D0-4AD0-0497-6671-CDCAA1A8F40C}"/>
                  </a:ext>
                </a:extLst>
              </p:cNvPr>
              <p:cNvSpPr/>
              <p:nvPr/>
            </p:nvSpPr>
            <p:spPr>
              <a:xfrm>
                <a:off x="6644219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3" name="Right face">
                <a:extLst>
                  <a:ext uri="{FF2B5EF4-FFF2-40B4-BE49-F238E27FC236}">
                    <a16:creationId xmlns:a16="http://schemas.microsoft.com/office/drawing/2014/main" id="{DA17325E-BE0A-804F-691D-3CE152DAF4C0}"/>
                  </a:ext>
                </a:extLst>
              </p:cNvPr>
              <p:cNvSpPr/>
              <p:nvPr/>
            </p:nvSpPr>
            <p:spPr>
              <a:xfrm>
                <a:off x="6769162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4" name="Top face">
                <a:extLst>
                  <a:ext uri="{FF2B5EF4-FFF2-40B4-BE49-F238E27FC236}">
                    <a16:creationId xmlns:a16="http://schemas.microsoft.com/office/drawing/2014/main" id="{8E921107-1890-F40A-73F7-55FACD274BD4}"/>
                  </a:ext>
                </a:extLst>
              </p:cNvPr>
              <p:cNvSpPr/>
              <p:nvPr/>
            </p:nvSpPr>
            <p:spPr>
              <a:xfrm>
                <a:off x="6644219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7" name="Assembly fuel (-3,1)">
              <a:extLst>
                <a:ext uri="{FF2B5EF4-FFF2-40B4-BE49-F238E27FC236}">
                  <a16:creationId xmlns:a16="http://schemas.microsoft.com/office/drawing/2014/main" id="{A02F608C-A09B-70EC-BF54-92D413E12C55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19" name="Left face">
                <a:extLst>
                  <a:ext uri="{FF2B5EF4-FFF2-40B4-BE49-F238E27FC236}">
                    <a16:creationId xmlns:a16="http://schemas.microsoft.com/office/drawing/2014/main" id="{50296CAA-6259-6A9C-3AE2-1366C1673672}"/>
                  </a:ext>
                </a:extLst>
              </p:cNvPr>
              <p:cNvSpPr/>
              <p:nvPr/>
            </p:nvSpPr>
            <p:spPr>
              <a:xfrm>
                <a:off x="5037555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0" name="Right face">
                <a:extLst>
                  <a:ext uri="{FF2B5EF4-FFF2-40B4-BE49-F238E27FC236}">
                    <a16:creationId xmlns:a16="http://schemas.microsoft.com/office/drawing/2014/main" id="{472D8955-2A86-E46B-DBDE-71BDE8B0CC53}"/>
                  </a:ext>
                </a:extLst>
              </p:cNvPr>
              <p:cNvSpPr/>
              <p:nvPr/>
            </p:nvSpPr>
            <p:spPr>
              <a:xfrm>
                <a:off x="5162498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1" name="Top face">
                <a:extLst>
                  <a:ext uri="{FF2B5EF4-FFF2-40B4-BE49-F238E27FC236}">
                    <a16:creationId xmlns:a16="http://schemas.microsoft.com/office/drawing/2014/main" id="{A6017250-B4F2-1826-CBF6-BC5F13FD1627}"/>
                  </a:ext>
                </a:extLst>
              </p:cNvPr>
              <p:cNvSpPr/>
              <p:nvPr/>
            </p:nvSpPr>
            <p:spPr>
              <a:xfrm>
                <a:off x="5037555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8" name="Assembly fuel (-2,1)">
              <a:extLst>
                <a:ext uri="{FF2B5EF4-FFF2-40B4-BE49-F238E27FC236}">
                  <a16:creationId xmlns:a16="http://schemas.microsoft.com/office/drawing/2014/main" id="{EC421B77-040A-043A-FFFD-F49479991701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16" name="Left face">
                <a:extLst>
                  <a:ext uri="{FF2B5EF4-FFF2-40B4-BE49-F238E27FC236}">
                    <a16:creationId xmlns:a16="http://schemas.microsoft.com/office/drawing/2014/main" id="{D31F1848-013E-C6FD-3DF2-B0A74F9AC1DA}"/>
                  </a:ext>
                </a:extLst>
              </p:cNvPr>
              <p:cNvSpPr/>
              <p:nvPr/>
            </p:nvSpPr>
            <p:spPr>
              <a:xfrm>
                <a:off x="5329676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7" name="Right face">
                <a:extLst>
                  <a:ext uri="{FF2B5EF4-FFF2-40B4-BE49-F238E27FC236}">
                    <a16:creationId xmlns:a16="http://schemas.microsoft.com/office/drawing/2014/main" id="{23137D59-FBB9-801A-2135-DD6DED7E7309}"/>
                  </a:ext>
                </a:extLst>
              </p:cNvPr>
              <p:cNvSpPr/>
              <p:nvPr/>
            </p:nvSpPr>
            <p:spPr>
              <a:xfrm>
                <a:off x="5454619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8" name="Top face">
                <a:extLst>
                  <a:ext uri="{FF2B5EF4-FFF2-40B4-BE49-F238E27FC236}">
                    <a16:creationId xmlns:a16="http://schemas.microsoft.com/office/drawing/2014/main" id="{47D3E106-1F62-7264-0BD0-C052A0AF855F}"/>
                  </a:ext>
                </a:extLst>
              </p:cNvPr>
              <p:cNvSpPr/>
              <p:nvPr/>
            </p:nvSpPr>
            <p:spPr>
              <a:xfrm>
                <a:off x="5329676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9" name="Assembly fuel (-1,1)">
              <a:extLst>
                <a:ext uri="{FF2B5EF4-FFF2-40B4-BE49-F238E27FC236}">
                  <a16:creationId xmlns:a16="http://schemas.microsoft.com/office/drawing/2014/main" id="{E81FDE9F-204B-8CF5-35B5-1E708480EFA5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13" name="Left face">
                <a:extLst>
                  <a:ext uri="{FF2B5EF4-FFF2-40B4-BE49-F238E27FC236}">
                    <a16:creationId xmlns:a16="http://schemas.microsoft.com/office/drawing/2014/main" id="{F8F6DF10-3A68-CDAF-4846-FD4178DFEC51}"/>
                  </a:ext>
                </a:extLst>
              </p:cNvPr>
              <p:cNvSpPr/>
              <p:nvPr/>
            </p:nvSpPr>
            <p:spPr>
              <a:xfrm>
                <a:off x="5621796" y="6144037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4" name="Right face">
                <a:extLst>
                  <a:ext uri="{FF2B5EF4-FFF2-40B4-BE49-F238E27FC236}">
                    <a16:creationId xmlns:a16="http://schemas.microsoft.com/office/drawing/2014/main" id="{2A3A3658-22B3-0C02-9F98-788365B0F963}"/>
                  </a:ext>
                </a:extLst>
              </p:cNvPr>
              <p:cNvSpPr/>
              <p:nvPr/>
            </p:nvSpPr>
            <p:spPr>
              <a:xfrm>
                <a:off x="5746740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5" name="Top face">
                <a:extLst>
                  <a:ext uri="{FF2B5EF4-FFF2-40B4-BE49-F238E27FC236}">
                    <a16:creationId xmlns:a16="http://schemas.microsoft.com/office/drawing/2014/main" id="{3F2D253B-8647-9C68-E2AC-C7D38667512F}"/>
                  </a:ext>
                </a:extLst>
              </p:cNvPr>
              <p:cNvSpPr/>
              <p:nvPr/>
            </p:nvSpPr>
            <p:spPr>
              <a:xfrm>
                <a:off x="5621796" y="6035833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0" name="Assembly fuel (0,1)">
              <a:extLst>
                <a:ext uri="{FF2B5EF4-FFF2-40B4-BE49-F238E27FC236}">
                  <a16:creationId xmlns:a16="http://schemas.microsoft.com/office/drawing/2014/main" id="{97C63C8C-0071-8E5C-2463-2B3DA8CB531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10" name="Left face">
                <a:extLst>
                  <a:ext uri="{FF2B5EF4-FFF2-40B4-BE49-F238E27FC236}">
                    <a16:creationId xmlns:a16="http://schemas.microsoft.com/office/drawing/2014/main" id="{0A326E70-25F1-C133-53DE-49C667491F26}"/>
                  </a:ext>
                </a:extLst>
              </p:cNvPr>
              <p:cNvSpPr/>
              <p:nvPr/>
            </p:nvSpPr>
            <p:spPr>
              <a:xfrm>
                <a:off x="5913917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1" name="Right face">
                <a:extLst>
                  <a:ext uri="{FF2B5EF4-FFF2-40B4-BE49-F238E27FC236}">
                    <a16:creationId xmlns:a16="http://schemas.microsoft.com/office/drawing/2014/main" id="{1ABE0462-16B2-D5A7-5756-BFA90E8E6E1F}"/>
                  </a:ext>
                </a:extLst>
              </p:cNvPr>
              <p:cNvSpPr/>
              <p:nvPr/>
            </p:nvSpPr>
            <p:spPr>
              <a:xfrm>
                <a:off x="6038860" y="6144037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2" name="Top face">
                <a:extLst>
                  <a:ext uri="{FF2B5EF4-FFF2-40B4-BE49-F238E27FC236}">
                    <a16:creationId xmlns:a16="http://schemas.microsoft.com/office/drawing/2014/main" id="{F11DDFEA-CAC3-DA1F-D843-18035D6FC495}"/>
                  </a:ext>
                </a:extLst>
              </p:cNvPr>
              <p:cNvSpPr/>
              <p:nvPr/>
            </p:nvSpPr>
            <p:spPr>
              <a:xfrm>
                <a:off x="5913917" y="6035833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1" name="Assembly fuel (1,1)">
              <a:extLst>
                <a:ext uri="{FF2B5EF4-FFF2-40B4-BE49-F238E27FC236}">
                  <a16:creationId xmlns:a16="http://schemas.microsoft.com/office/drawing/2014/main" id="{FE74C2A1-375F-063F-9748-ABE82198132E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07" name="Left face">
                <a:extLst>
                  <a:ext uri="{FF2B5EF4-FFF2-40B4-BE49-F238E27FC236}">
                    <a16:creationId xmlns:a16="http://schemas.microsoft.com/office/drawing/2014/main" id="{28AA6141-5AED-6FE7-A90C-7CC31334E661}"/>
                  </a:ext>
                </a:extLst>
              </p:cNvPr>
              <p:cNvSpPr/>
              <p:nvPr/>
            </p:nvSpPr>
            <p:spPr>
              <a:xfrm>
                <a:off x="6206038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8" name="Right face">
                <a:extLst>
                  <a:ext uri="{FF2B5EF4-FFF2-40B4-BE49-F238E27FC236}">
                    <a16:creationId xmlns:a16="http://schemas.microsoft.com/office/drawing/2014/main" id="{6908B419-AD82-C89A-2A80-1B5E1311538D}"/>
                  </a:ext>
                </a:extLst>
              </p:cNvPr>
              <p:cNvSpPr/>
              <p:nvPr/>
            </p:nvSpPr>
            <p:spPr>
              <a:xfrm>
                <a:off x="6330981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9" name="Top face">
                <a:extLst>
                  <a:ext uri="{FF2B5EF4-FFF2-40B4-BE49-F238E27FC236}">
                    <a16:creationId xmlns:a16="http://schemas.microsoft.com/office/drawing/2014/main" id="{C74C8015-7C95-BE1B-C045-B02F753C75BF}"/>
                  </a:ext>
                </a:extLst>
              </p:cNvPr>
              <p:cNvSpPr/>
              <p:nvPr/>
            </p:nvSpPr>
            <p:spPr>
              <a:xfrm>
                <a:off x="6206038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2" name="Assembly fuel (2,1)">
              <a:extLst>
                <a:ext uri="{FF2B5EF4-FFF2-40B4-BE49-F238E27FC236}">
                  <a16:creationId xmlns:a16="http://schemas.microsoft.com/office/drawing/2014/main" id="{F850ED6A-F12D-B77A-59EC-E18AB73B294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04" name="Left face">
                <a:extLst>
                  <a:ext uri="{FF2B5EF4-FFF2-40B4-BE49-F238E27FC236}">
                    <a16:creationId xmlns:a16="http://schemas.microsoft.com/office/drawing/2014/main" id="{2F141255-FB9F-44D2-6733-430BD437B7C4}"/>
                  </a:ext>
                </a:extLst>
              </p:cNvPr>
              <p:cNvSpPr/>
              <p:nvPr/>
            </p:nvSpPr>
            <p:spPr>
              <a:xfrm>
                <a:off x="6498159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5" name="Right face">
                <a:extLst>
                  <a:ext uri="{FF2B5EF4-FFF2-40B4-BE49-F238E27FC236}">
                    <a16:creationId xmlns:a16="http://schemas.microsoft.com/office/drawing/2014/main" id="{5D4CD5AA-A495-BA0C-1B4B-765BEBDADF1A}"/>
                  </a:ext>
                </a:extLst>
              </p:cNvPr>
              <p:cNvSpPr/>
              <p:nvPr/>
            </p:nvSpPr>
            <p:spPr>
              <a:xfrm>
                <a:off x="6623102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6" name="Top face">
                <a:extLst>
                  <a:ext uri="{FF2B5EF4-FFF2-40B4-BE49-F238E27FC236}">
                    <a16:creationId xmlns:a16="http://schemas.microsoft.com/office/drawing/2014/main" id="{B726CD9F-C575-111A-47D4-FE479ADC9E84}"/>
                  </a:ext>
                </a:extLst>
              </p:cNvPr>
              <p:cNvSpPr/>
              <p:nvPr/>
            </p:nvSpPr>
            <p:spPr>
              <a:xfrm>
                <a:off x="6498159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3" name="Assembly fuel (-3,2)">
              <a:extLst>
                <a:ext uri="{FF2B5EF4-FFF2-40B4-BE49-F238E27FC236}">
                  <a16:creationId xmlns:a16="http://schemas.microsoft.com/office/drawing/2014/main" id="{C8FF0C9F-B9A4-93A4-3936-9C1543FCD63E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01" name="Left face">
                <a:extLst>
                  <a:ext uri="{FF2B5EF4-FFF2-40B4-BE49-F238E27FC236}">
                    <a16:creationId xmlns:a16="http://schemas.microsoft.com/office/drawing/2014/main" id="{09F49B60-1105-7CB2-90DC-E6B4CBFE2BB3}"/>
                  </a:ext>
                </a:extLst>
              </p:cNvPr>
              <p:cNvSpPr/>
              <p:nvPr/>
            </p:nvSpPr>
            <p:spPr>
              <a:xfrm>
                <a:off x="5183615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2" name="Right face">
                <a:extLst>
                  <a:ext uri="{FF2B5EF4-FFF2-40B4-BE49-F238E27FC236}">
                    <a16:creationId xmlns:a16="http://schemas.microsoft.com/office/drawing/2014/main" id="{34A3CEED-280C-8041-14FB-BECD875D9854}"/>
                  </a:ext>
                </a:extLst>
              </p:cNvPr>
              <p:cNvSpPr/>
              <p:nvPr/>
            </p:nvSpPr>
            <p:spPr>
              <a:xfrm>
                <a:off x="5308558" y="627052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3" name="Top face">
                <a:extLst>
                  <a:ext uri="{FF2B5EF4-FFF2-40B4-BE49-F238E27FC236}">
                    <a16:creationId xmlns:a16="http://schemas.microsoft.com/office/drawing/2014/main" id="{5F77949D-4246-8FB9-F415-EB672760432F}"/>
                  </a:ext>
                </a:extLst>
              </p:cNvPr>
              <p:cNvSpPr/>
              <p:nvPr/>
            </p:nvSpPr>
            <p:spPr>
              <a:xfrm>
                <a:off x="5183615" y="616232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4" name="Assembly control (-2,2)">
              <a:extLst>
                <a:ext uri="{FF2B5EF4-FFF2-40B4-BE49-F238E27FC236}">
                  <a16:creationId xmlns:a16="http://schemas.microsoft.com/office/drawing/2014/main" id="{FA8F509B-944C-3013-20E7-0CB0390F308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98" name="Left face">
                <a:extLst>
                  <a:ext uri="{FF2B5EF4-FFF2-40B4-BE49-F238E27FC236}">
                    <a16:creationId xmlns:a16="http://schemas.microsoft.com/office/drawing/2014/main" id="{4F61616D-1163-9AE6-848D-7AB6E35FAC91}"/>
                  </a:ext>
                </a:extLst>
              </p:cNvPr>
              <p:cNvSpPr/>
              <p:nvPr/>
            </p:nvSpPr>
            <p:spPr>
              <a:xfrm>
                <a:off x="5475736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9" name="Right face">
                <a:extLst>
                  <a:ext uri="{FF2B5EF4-FFF2-40B4-BE49-F238E27FC236}">
                    <a16:creationId xmlns:a16="http://schemas.microsoft.com/office/drawing/2014/main" id="{28FB4E29-E1ED-6283-7FC6-27C942BBEC82}"/>
                  </a:ext>
                </a:extLst>
              </p:cNvPr>
              <p:cNvSpPr/>
              <p:nvPr/>
            </p:nvSpPr>
            <p:spPr>
              <a:xfrm>
                <a:off x="5600679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0" name="Top face">
                <a:extLst>
                  <a:ext uri="{FF2B5EF4-FFF2-40B4-BE49-F238E27FC236}">
                    <a16:creationId xmlns:a16="http://schemas.microsoft.com/office/drawing/2014/main" id="{BE5152C7-85CF-B765-C93C-CF116F5374D1}"/>
                  </a:ext>
                </a:extLst>
              </p:cNvPr>
              <p:cNvSpPr/>
              <p:nvPr/>
            </p:nvSpPr>
            <p:spPr>
              <a:xfrm>
                <a:off x="5475736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5" name="Assembly fuel (-1,2)">
              <a:extLst>
                <a:ext uri="{FF2B5EF4-FFF2-40B4-BE49-F238E27FC236}">
                  <a16:creationId xmlns:a16="http://schemas.microsoft.com/office/drawing/2014/main" id="{0E76FA10-A181-A7FD-5D62-8545477744AB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95" name="Left face">
                <a:extLst>
                  <a:ext uri="{FF2B5EF4-FFF2-40B4-BE49-F238E27FC236}">
                    <a16:creationId xmlns:a16="http://schemas.microsoft.com/office/drawing/2014/main" id="{265FCD48-258B-A6CF-D39F-CBD6FD465B98}"/>
                  </a:ext>
                </a:extLst>
              </p:cNvPr>
              <p:cNvSpPr/>
              <p:nvPr/>
            </p:nvSpPr>
            <p:spPr>
              <a:xfrm>
                <a:off x="5767857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6" name="Right face">
                <a:extLst>
                  <a:ext uri="{FF2B5EF4-FFF2-40B4-BE49-F238E27FC236}">
                    <a16:creationId xmlns:a16="http://schemas.microsoft.com/office/drawing/2014/main" id="{A4C7DC40-D2D8-D2AF-8483-1CF2D3539279}"/>
                  </a:ext>
                </a:extLst>
              </p:cNvPr>
              <p:cNvSpPr/>
              <p:nvPr/>
            </p:nvSpPr>
            <p:spPr>
              <a:xfrm>
                <a:off x="5892800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7" name="Top face">
                <a:extLst>
                  <a:ext uri="{FF2B5EF4-FFF2-40B4-BE49-F238E27FC236}">
                    <a16:creationId xmlns:a16="http://schemas.microsoft.com/office/drawing/2014/main" id="{31A126B0-E782-8C4B-2B7E-630A006A8848}"/>
                  </a:ext>
                </a:extLst>
              </p:cNvPr>
              <p:cNvSpPr/>
              <p:nvPr/>
            </p:nvSpPr>
            <p:spPr>
              <a:xfrm>
                <a:off x="5767857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6" name="Assembly control (0,2)">
              <a:extLst>
                <a:ext uri="{FF2B5EF4-FFF2-40B4-BE49-F238E27FC236}">
                  <a16:creationId xmlns:a16="http://schemas.microsoft.com/office/drawing/2014/main" id="{A079B41D-1A16-DC8A-CD6A-E6E34B9A8764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92" name="Left face">
                <a:extLst>
                  <a:ext uri="{FF2B5EF4-FFF2-40B4-BE49-F238E27FC236}">
                    <a16:creationId xmlns:a16="http://schemas.microsoft.com/office/drawing/2014/main" id="{5EDCAD01-F1EB-9120-7A26-6366BCA81E6B}"/>
                  </a:ext>
                </a:extLst>
              </p:cNvPr>
              <p:cNvSpPr/>
              <p:nvPr/>
            </p:nvSpPr>
            <p:spPr>
              <a:xfrm>
                <a:off x="6059978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3" name="Right face">
                <a:extLst>
                  <a:ext uri="{FF2B5EF4-FFF2-40B4-BE49-F238E27FC236}">
                    <a16:creationId xmlns:a16="http://schemas.microsoft.com/office/drawing/2014/main" id="{0B398FA4-AFE3-DDD9-EAD2-930869354099}"/>
                  </a:ext>
                </a:extLst>
              </p:cNvPr>
              <p:cNvSpPr/>
              <p:nvPr/>
            </p:nvSpPr>
            <p:spPr>
              <a:xfrm>
                <a:off x="6184921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4" name="Top face">
                <a:extLst>
                  <a:ext uri="{FF2B5EF4-FFF2-40B4-BE49-F238E27FC236}">
                    <a16:creationId xmlns:a16="http://schemas.microsoft.com/office/drawing/2014/main" id="{AF6BEC53-0024-8E75-B238-EDFF00076123}"/>
                  </a:ext>
                </a:extLst>
              </p:cNvPr>
              <p:cNvSpPr/>
              <p:nvPr/>
            </p:nvSpPr>
            <p:spPr>
              <a:xfrm>
                <a:off x="6059978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7" name="Assembly fuel (1,2)">
              <a:extLst>
                <a:ext uri="{FF2B5EF4-FFF2-40B4-BE49-F238E27FC236}">
                  <a16:creationId xmlns:a16="http://schemas.microsoft.com/office/drawing/2014/main" id="{C9356D59-811C-8085-93F2-78DC0AAE885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89" name="Left face">
                <a:extLst>
                  <a:ext uri="{FF2B5EF4-FFF2-40B4-BE49-F238E27FC236}">
                    <a16:creationId xmlns:a16="http://schemas.microsoft.com/office/drawing/2014/main" id="{9A56F4D3-1E01-3FBD-A9CE-AF7F14D14566}"/>
                  </a:ext>
                </a:extLst>
              </p:cNvPr>
              <p:cNvSpPr/>
              <p:nvPr/>
            </p:nvSpPr>
            <p:spPr>
              <a:xfrm>
                <a:off x="6352098" y="627052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0" name="Right face">
                <a:extLst>
                  <a:ext uri="{FF2B5EF4-FFF2-40B4-BE49-F238E27FC236}">
                    <a16:creationId xmlns:a16="http://schemas.microsoft.com/office/drawing/2014/main" id="{2E4DD30C-DFC8-D30E-3F49-7CD4B20EF70E}"/>
                  </a:ext>
                </a:extLst>
              </p:cNvPr>
              <p:cNvSpPr/>
              <p:nvPr/>
            </p:nvSpPr>
            <p:spPr>
              <a:xfrm>
                <a:off x="6477042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1" name="Top face">
                <a:extLst>
                  <a:ext uri="{FF2B5EF4-FFF2-40B4-BE49-F238E27FC236}">
                    <a16:creationId xmlns:a16="http://schemas.microsoft.com/office/drawing/2014/main" id="{9B9D489A-FD56-0E44-1387-C12B059D8E5E}"/>
                  </a:ext>
                </a:extLst>
              </p:cNvPr>
              <p:cNvSpPr/>
              <p:nvPr/>
            </p:nvSpPr>
            <p:spPr>
              <a:xfrm>
                <a:off x="6352098" y="616232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8" name="Assembly fuel (-3,3)">
              <a:extLst>
                <a:ext uri="{FF2B5EF4-FFF2-40B4-BE49-F238E27FC236}">
                  <a16:creationId xmlns:a16="http://schemas.microsoft.com/office/drawing/2014/main" id="{B6881B82-7515-9FC4-2D25-7D74F3990CF6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86" name="Left face">
                <a:extLst>
                  <a:ext uri="{FF2B5EF4-FFF2-40B4-BE49-F238E27FC236}">
                    <a16:creationId xmlns:a16="http://schemas.microsoft.com/office/drawing/2014/main" id="{A41E1426-3900-C462-A72E-3AE52332577D}"/>
                  </a:ext>
                </a:extLst>
              </p:cNvPr>
              <p:cNvSpPr/>
              <p:nvPr/>
            </p:nvSpPr>
            <p:spPr>
              <a:xfrm>
                <a:off x="5329676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7" name="Right face">
                <a:extLst>
                  <a:ext uri="{FF2B5EF4-FFF2-40B4-BE49-F238E27FC236}">
                    <a16:creationId xmlns:a16="http://schemas.microsoft.com/office/drawing/2014/main" id="{D233E6BC-2365-2AA6-61D9-AA03C1D1B0A3}"/>
                  </a:ext>
                </a:extLst>
              </p:cNvPr>
              <p:cNvSpPr/>
              <p:nvPr/>
            </p:nvSpPr>
            <p:spPr>
              <a:xfrm>
                <a:off x="5454619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8" name="Top face">
                <a:extLst>
                  <a:ext uri="{FF2B5EF4-FFF2-40B4-BE49-F238E27FC236}">
                    <a16:creationId xmlns:a16="http://schemas.microsoft.com/office/drawing/2014/main" id="{EDFE0E62-34C9-6716-EB90-271F20C5D67D}"/>
                  </a:ext>
                </a:extLst>
              </p:cNvPr>
              <p:cNvSpPr/>
              <p:nvPr/>
            </p:nvSpPr>
            <p:spPr>
              <a:xfrm>
                <a:off x="5329676" y="628881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9" name="Assembly fuel (-2,3)">
              <a:extLst>
                <a:ext uri="{FF2B5EF4-FFF2-40B4-BE49-F238E27FC236}">
                  <a16:creationId xmlns:a16="http://schemas.microsoft.com/office/drawing/2014/main" id="{A12A36BF-85B0-9EF6-BA23-20A9B8A104F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83" name="Left face">
                <a:extLst>
                  <a:ext uri="{FF2B5EF4-FFF2-40B4-BE49-F238E27FC236}">
                    <a16:creationId xmlns:a16="http://schemas.microsoft.com/office/drawing/2014/main" id="{B7861572-80B4-AC9B-C3D0-AEE10563672E}"/>
                  </a:ext>
                </a:extLst>
              </p:cNvPr>
              <p:cNvSpPr/>
              <p:nvPr/>
            </p:nvSpPr>
            <p:spPr>
              <a:xfrm>
                <a:off x="5621796" y="639702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4" name="Right face">
                <a:extLst>
                  <a:ext uri="{FF2B5EF4-FFF2-40B4-BE49-F238E27FC236}">
                    <a16:creationId xmlns:a16="http://schemas.microsoft.com/office/drawing/2014/main" id="{6E52472D-BC2E-60DA-59AB-426049B26724}"/>
                  </a:ext>
                </a:extLst>
              </p:cNvPr>
              <p:cNvSpPr/>
              <p:nvPr/>
            </p:nvSpPr>
            <p:spPr>
              <a:xfrm>
                <a:off x="5746740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5" name="Top face">
                <a:extLst>
                  <a:ext uri="{FF2B5EF4-FFF2-40B4-BE49-F238E27FC236}">
                    <a16:creationId xmlns:a16="http://schemas.microsoft.com/office/drawing/2014/main" id="{EF324ED9-CB1E-9390-9E83-32850F4ED60F}"/>
                  </a:ext>
                </a:extLst>
              </p:cNvPr>
              <p:cNvSpPr/>
              <p:nvPr/>
            </p:nvSpPr>
            <p:spPr>
              <a:xfrm>
                <a:off x="5621796" y="628881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70" name="Assembly fuel (-1,3)">
              <a:extLst>
                <a:ext uri="{FF2B5EF4-FFF2-40B4-BE49-F238E27FC236}">
                  <a16:creationId xmlns:a16="http://schemas.microsoft.com/office/drawing/2014/main" id="{B96917AF-FCEC-7C70-3135-0826F717D66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80" name="Left face">
                <a:extLst>
                  <a:ext uri="{FF2B5EF4-FFF2-40B4-BE49-F238E27FC236}">
                    <a16:creationId xmlns:a16="http://schemas.microsoft.com/office/drawing/2014/main" id="{F4EDBA66-83EF-5A1F-BDF1-D96151EAC381}"/>
                  </a:ext>
                </a:extLst>
              </p:cNvPr>
              <p:cNvSpPr/>
              <p:nvPr/>
            </p:nvSpPr>
            <p:spPr>
              <a:xfrm>
                <a:off x="5913917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1" name="Right face">
                <a:extLst>
                  <a:ext uri="{FF2B5EF4-FFF2-40B4-BE49-F238E27FC236}">
                    <a16:creationId xmlns:a16="http://schemas.microsoft.com/office/drawing/2014/main" id="{EFE43D63-2D41-1806-F440-5A3EFB129FCF}"/>
                  </a:ext>
                </a:extLst>
              </p:cNvPr>
              <p:cNvSpPr/>
              <p:nvPr/>
            </p:nvSpPr>
            <p:spPr>
              <a:xfrm>
                <a:off x="6038860" y="639702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2" name="Top face">
                <a:extLst>
                  <a:ext uri="{FF2B5EF4-FFF2-40B4-BE49-F238E27FC236}">
                    <a16:creationId xmlns:a16="http://schemas.microsoft.com/office/drawing/2014/main" id="{F0B4E020-5DC5-D682-C1FE-1A4A044E9E2D}"/>
                  </a:ext>
                </a:extLst>
              </p:cNvPr>
              <p:cNvSpPr/>
              <p:nvPr/>
            </p:nvSpPr>
            <p:spPr>
              <a:xfrm>
                <a:off x="5913917" y="628881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71" name="Assembly fuel (0,3)">
              <a:extLst>
                <a:ext uri="{FF2B5EF4-FFF2-40B4-BE49-F238E27FC236}">
                  <a16:creationId xmlns:a16="http://schemas.microsoft.com/office/drawing/2014/main" id="{DEF14156-5483-8809-F7FA-8616AA16C7A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77" name="Left face">
                <a:extLst>
                  <a:ext uri="{FF2B5EF4-FFF2-40B4-BE49-F238E27FC236}">
                    <a16:creationId xmlns:a16="http://schemas.microsoft.com/office/drawing/2014/main" id="{38FBA44B-5747-0E80-10E1-C638A5FB64D4}"/>
                  </a:ext>
                </a:extLst>
              </p:cNvPr>
              <p:cNvSpPr/>
              <p:nvPr/>
            </p:nvSpPr>
            <p:spPr>
              <a:xfrm>
                <a:off x="6206038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8" name="Right face">
                <a:extLst>
                  <a:ext uri="{FF2B5EF4-FFF2-40B4-BE49-F238E27FC236}">
                    <a16:creationId xmlns:a16="http://schemas.microsoft.com/office/drawing/2014/main" id="{233559F1-C4FF-FDB9-739F-916B02109B27}"/>
                  </a:ext>
                </a:extLst>
              </p:cNvPr>
              <p:cNvSpPr/>
              <p:nvPr/>
            </p:nvSpPr>
            <p:spPr>
              <a:xfrm>
                <a:off x="6330981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9" name="Top face">
                <a:extLst>
                  <a:ext uri="{FF2B5EF4-FFF2-40B4-BE49-F238E27FC236}">
                    <a16:creationId xmlns:a16="http://schemas.microsoft.com/office/drawing/2014/main" id="{3F4BFD63-A09B-4B96-53B5-A24569C8863D}"/>
                  </a:ext>
                </a:extLst>
              </p:cNvPr>
              <p:cNvSpPr/>
              <p:nvPr/>
            </p:nvSpPr>
            <p:spPr>
              <a:xfrm>
                <a:off x="6206038" y="628881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73" name="Glass highlight">
              <a:extLst>
                <a:ext uri="{FF2B5EF4-FFF2-40B4-BE49-F238E27FC236}">
                  <a16:creationId xmlns:a16="http://schemas.microsoft.com/office/drawing/2014/main" id="{B5038D7A-C00E-43F2-A90F-F6FDE3C64F95}"/>
                </a:ext>
              </a:extLst>
            </p:cNvPr>
            <p:cNvSpPr/>
            <p:nvPr/>
          </p:nvSpPr>
          <p:spPr>
            <a:xfrm>
              <a:off x="5003141" y="6223659"/>
              <a:ext cx="88966" cy="1566093"/>
            </a:xfrm>
            <a:custGeom>
              <a:avLst/>
              <a:gdLst/>
              <a:ahLst/>
              <a:cxnLst/>
              <a:rect l="l" t="t" r="r" b="b"/>
              <a:pathLst>
                <a:path w="88966" h="1566093">
                  <a:moveTo>
                    <a:pt x="0" y="0"/>
                  </a:moveTo>
                  <a:lnTo>
                    <a:pt x="88966" y="52253"/>
                  </a:lnTo>
                  <a:lnTo>
                    <a:pt x="88966" y="1566093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FFFFFF">
                <a:alpha val="4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4" name="Glass highlight">
              <a:extLst>
                <a:ext uri="{FF2B5EF4-FFF2-40B4-BE49-F238E27FC236}">
                  <a16:creationId xmlns:a16="http://schemas.microsoft.com/office/drawing/2014/main" id="{B96175B0-35D2-10D5-70B5-DFEC29B78FBF}"/>
                </a:ext>
              </a:extLst>
            </p:cNvPr>
            <p:cNvSpPr/>
            <p:nvPr/>
          </p:nvSpPr>
          <p:spPr>
            <a:xfrm>
              <a:off x="5158831" y="6307769"/>
              <a:ext cx="33362" cy="1527924"/>
            </a:xfrm>
            <a:custGeom>
              <a:avLst/>
              <a:gdLst/>
              <a:ahLst/>
              <a:cxnLst/>
              <a:rect l="l" t="t" r="r" b="b"/>
              <a:pathLst>
                <a:path w="33362" h="1527924">
                  <a:moveTo>
                    <a:pt x="0" y="0"/>
                  </a:moveTo>
                  <a:lnTo>
                    <a:pt x="33362" y="14084"/>
                  </a:lnTo>
                  <a:lnTo>
                    <a:pt x="33362" y="1527924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FFFFFF">
                <a:alpha val="231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89" name="Top face">
            <a:extLst>
              <a:ext uri="{FF2B5EF4-FFF2-40B4-BE49-F238E27FC236}">
                <a16:creationId xmlns:a16="http://schemas.microsoft.com/office/drawing/2014/main" id="{CD9ADCE9-D73D-3F09-AAC5-4AD89A673216}"/>
              </a:ext>
            </a:extLst>
          </p:cNvPr>
          <p:cNvSpPr/>
          <p:nvPr/>
        </p:nvSpPr>
        <p:spPr>
          <a:xfrm>
            <a:off x="7769963" y="5841046"/>
            <a:ext cx="707714" cy="712967"/>
          </a:xfrm>
          <a:custGeom>
            <a:avLst/>
            <a:gdLst/>
            <a:ahLst/>
            <a:cxnLst/>
            <a:rect l="l" t="t" r="r" b="b"/>
            <a:pathLst>
              <a:path w="249886" h="144272">
                <a:moveTo>
                  <a:pt x="249886" y="36068"/>
                </a:moveTo>
                <a:lnTo>
                  <a:pt x="249886" y="108204"/>
                </a:lnTo>
                <a:lnTo>
                  <a:pt x="124943" y="144272"/>
                </a:lnTo>
                <a:lnTo>
                  <a:pt x="0" y="108204"/>
                </a:lnTo>
                <a:lnTo>
                  <a:pt x="0" y="36068"/>
                </a:lnTo>
                <a:lnTo>
                  <a:pt x="124943" y="0"/>
                </a:lnTo>
                <a:close/>
              </a:path>
            </a:pathLst>
          </a:custGeom>
          <a:solidFill>
            <a:srgbClr val="7CCDB2"/>
          </a:solidFill>
          <a:ln w="10160">
            <a:solidFill>
              <a:srgbClr val="0A5140"/>
            </a:solidFill>
            <a:round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5" name="Clad">
            <a:extLst>
              <a:ext uri="{FF2B5EF4-FFF2-40B4-BE49-F238E27FC236}">
                <a16:creationId xmlns:a16="http://schemas.microsoft.com/office/drawing/2014/main" id="{1EC9EE43-E603-EF9E-78F3-93E4A60BF551}"/>
              </a:ext>
            </a:extLst>
          </p:cNvPr>
          <p:cNvSpPr/>
          <p:nvPr/>
        </p:nvSpPr>
        <p:spPr>
          <a:xfrm>
            <a:off x="7851413" y="6777861"/>
            <a:ext cx="419782" cy="411413"/>
          </a:xfrm>
          <a:prstGeom prst="ellipse">
            <a:avLst/>
          </a:prstGeom>
          <a:noFill/>
          <a:ln w="18913">
            <a:solidFill>
              <a:srgbClr val="0A514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Gap">
            <a:extLst>
              <a:ext uri="{FF2B5EF4-FFF2-40B4-BE49-F238E27FC236}">
                <a16:creationId xmlns:a16="http://schemas.microsoft.com/office/drawing/2014/main" id="{0E60320B-FAC9-D593-AC17-00C71F812953}"/>
              </a:ext>
            </a:extLst>
          </p:cNvPr>
          <p:cNvSpPr/>
          <p:nvPr/>
        </p:nvSpPr>
        <p:spPr>
          <a:xfrm>
            <a:off x="7906214" y="6812088"/>
            <a:ext cx="307510" cy="320529"/>
          </a:xfrm>
          <a:prstGeom prst="ellipse">
            <a:avLst/>
          </a:prstGeom>
          <a:noFill/>
          <a:ln w="13755">
            <a:solidFill>
              <a:srgbClr val="0A514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Fuel">
            <a:extLst>
              <a:ext uri="{FF2B5EF4-FFF2-40B4-BE49-F238E27FC236}">
                <a16:creationId xmlns:a16="http://schemas.microsoft.com/office/drawing/2014/main" id="{1B1AD768-380E-D521-7884-1F8BFE7C0334}"/>
              </a:ext>
            </a:extLst>
          </p:cNvPr>
          <p:cNvSpPr/>
          <p:nvPr/>
        </p:nvSpPr>
        <p:spPr>
          <a:xfrm>
            <a:off x="7948208" y="6876004"/>
            <a:ext cx="223519" cy="217414"/>
          </a:xfrm>
          <a:prstGeom prst="ellipse">
            <a:avLst/>
          </a:prstGeom>
          <a:solidFill>
            <a:srgbClr val="0A51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Reactor Model label">
            <a:extLst>
              <a:ext uri="{FF2B5EF4-FFF2-40B4-BE49-F238E27FC236}">
                <a16:creationId xmlns:a16="http://schemas.microsoft.com/office/drawing/2014/main" id="{F6264988-B6E1-46BD-F9AE-FEAE88976C02}"/>
              </a:ext>
            </a:extLst>
          </p:cNvPr>
          <p:cNvSpPr txBox="1"/>
          <p:nvPr/>
        </p:nvSpPr>
        <p:spPr>
          <a:xfrm>
            <a:off x="988271" y="8201524"/>
            <a:ext cx="1000933" cy="34379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0" b="1" dirty="0">
                <a:solidFill>
                  <a:srgbClr val="172033"/>
                </a:solidFill>
                <a:latin typeface="Arial"/>
              </a:rPr>
              <a:t>Reactor</a:t>
            </a:r>
            <a:endParaRPr sz="1040" dirty="0">
              <a:solidFill>
                <a:srgbClr val="5A6578"/>
              </a:solidFill>
              <a:latin typeface="Arial"/>
            </a:endParaRPr>
          </a:p>
        </p:txBody>
      </p:sp>
      <p:sp>
        <p:nvSpPr>
          <p:cNvPr id="503" name="Reactor Model label">
            <a:extLst>
              <a:ext uri="{FF2B5EF4-FFF2-40B4-BE49-F238E27FC236}">
                <a16:creationId xmlns:a16="http://schemas.microsoft.com/office/drawing/2014/main" id="{BB654CB3-D731-D6F6-076E-6DC5E925AE26}"/>
              </a:ext>
            </a:extLst>
          </p:cNvPr>
          <p:cNvSpPr txBox="1"/>
          <p:nvPr/>
        </p:nvSpPr>
        <p:spPr>
          <a:xfrm>
            <a:off x="3701093" y="8200391"/>
            <a:ext cx="1000933" cy="34379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360" b="1" dirty="0">
                <a:solidFill>
                  <a:srgbClr val="172033"/>
                </a:solidFill>
                <a:latin typeface="Arial"/>
              </a:rPr>
              <a:t>Core</a:t>
            </a:r>
            <a:endParaRPr sz="1040" dirty="0">
              <a:solidFill>
                <a:srgbClr val="5A6578"/>
              </a:solidFill>
              <a:latin typeface="Arial"/>
            </a:endParaRPr>
          </a:p>
        </p:txBody>
      </p:sp>
      <p:sp>
        <p:nvSpPr>
          <p:cNvPr id="505" name="Reactor Model label">
            <a:extLst>
              <a:ext uri="{FF2B5EF4-FFF2-40B4-BE49-F238E27FC236}">
                <a16:creationId xmlns:a16="http://schemas.microsoft.com/office/drawing/2014/main" id="{8E0FB141-B022-43C7-CB56-CA74E6037795}"/>
              </a:ext>
            </a:extLst>
          </p:cNvPr>
          <p:cNvSpPr txBox="1"/>
          <p:nvPr/>
        </p:nvSpPr>
        <p:spPr>
          <a:xfrm>
            <a:off x="5478693" y="8194585"/>
            <a:ext cx="1000933" cy="34379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360" b="1" dirty="0">
                <a:solidFill>
                  <a:srgbClr val="172033"/>
                </a:solidFill>
                <a:latin typeface="Arial"/>
              </a:rPr>
              <a:t>Assemblies</a:t>
            </a:r>
            <a:endParaRPr sz="1040" dirty="0">
              <a:solidFill>
                <a:srgbClr val="5A6578"/>
              </a:solidFill>
              <a:latin typeface="Arial"/>
            </a:endParaRPr>
          </a:p>
        </p:txBody>
      </p:sp>
      <p:sp>
        <p:nvSpPr>
          <p:cNvPr id="508" name="Reactor Model label">
            <a:extLst>
              <a:ext uri="{FF2B5EF4-FFF2-40B4-BE49-F238E27FC236}">
                <a16:creationId xmlns:a16="http://schemas.microsoft.com/office/drawing/2014/main" id="{327BDE7A-E595-32C7-2179-5CCEE8D588F3}"/>
              </a:ext>
            </a:extLst>
          </p:cNvPr>
          <p:cNvSpPr txBox="1"/>
          <p:nvPr/>
        </p:nvSpPr>
        <p:spPr>
          <a:xfrm>
            <a:off x="6466590" y="8204624"/>
            <a:ext cx="1000933" cy="34379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360" b="1" dirty="0">
                <a:solidFill>
                  <a:srgbClr val="172033"/>
                </a:solidFill>
                <a:latin typeface="Arial"/>
              </a:rPr>
              <a:t>Blocks</a:t>
            </a:r>
          </a:p>
        </p:txBody>
      </p:sp>
      <p:cxnSp>
        <p:nvCxnSpPr>
          <p:cNvPr id="509" name="Link: Visualization - Reactor Model">
            <a:extLst>
              <a:ext uri="{FF2B5EF4-FFF2-40B4-BE49-F238E27FC236}">
                <a16:creationId xmlns:a16="http://schemas.microsoft.com/office/drawing/2014/main" id="{9776DB8C-9A86-C5B1-E969-3FF5E33278B6}"/>
              </a:ext>
            </a:extLst>
          </p:cNvPr>
          <p:cNvCxnSpPr>
            <a:cxnSpLocks/>
          </p:cNvCxnSpPr>
          <p:nvPr/>
        </p:nvCxnSpPr>
        <p:spPr>
          <a:xfrm>
            <a:off x="2662039" y="6898706"/>
            <a:ext cx="447918" cy="0"/>
          </a:xfrm>
          <a:prstGeom prst="line">
            <a:avLst/>
          </a:prstGeom>
          <a:ln w="20320">
            <a:solidFill>
              <a:srgbClr val="3B475A"/>
            </a:solidFill>
            <a:headEnd type="none" w="lg" len="lg"/>
            <a:tailEnd type="triangle" w="lg" len="lg"/>
          </a:ln>
          <a:effectLst/>
        </p:spPr>
      </p:cxnSp>
      <p:cxnSp>
        <p:nvCxnSpPr>
          <p:cNvPr id="511" name="Link: Visualization - Reactor Model">
            <a:extLst>
              <a:ext uri="{FF2B5EF4-FFF2-40B4-BE49-F238E27FC236}">
                <a16:creationId xmlns:a16="http://schemas.microsoft.com/office/drawing/2014/main" id="{9BAB2C1B-C4A5-3165-1614-E5C2680AE367}"/>
              </a:ext>
            </a:extLst>
          </p:cNvPr>
          <p:cNvCxnSpPr>
            <a:cxnSpLocks/>
          </p:cNvCxnSpPr>
          <p:nvPr/>
        </p:nvCxnSpPr>
        <p:spPr>
          <a:xfrm>
            <a:off x="5304877" y="6762674"/>
            <a:ext cx="447918" cy="0"/>
          </a:xfrm>
          <a:prstGeom prst="line">
            <a:avLst/>
          </a:prstGeom>
          <a:ln w="20320">
            <a:solidFill>
              <a:srgbClr val="3B475A"/>
            </a:solidFill>
            <a:headEnd type="none" w="lg" len="lg"/>
            <a:tailEnd type="triangle" w="lg" len="lg"/>
          </a:ln>
          <a:effectLst/>
        </p:spPr>
      </p:cxnSp>
      <p:cxnSp>
        <p:nvCxnSpPr>
          <p:cNvPr id="512" name="Link: Visualization - Reactor Model">
            <a:extLst>
              <a:ext uri="{FF2B5EF4-FFF2-40B4-BE49-F238E27FC236}">
                <a16:creationId xmlns:a16="http://schemas.microsoft.com/office/drawing/2014/main" id="{4867270C-ADDC-2126-AF8E-9871F725CE16}"/>
              </a:ext>
            </a:extLst>
          </p:cNvPr>
          <p:cNvCxnSpPr>
            <a:cxnSpLocks/>
          </p:cNvCxnSpPr>
          <p:nvPr/>
        </p:nvCxnSpPr>
        <p:spPr>
          <a:xfrm>
            <a:off x="6223024" y="6762674"/>
            <a:ext cx="447918" cy="0"/>
          </a:xfrm>
          <a:prstGeom prst="line">
            <a:avLst/>
          </a:prstGeom>
          <a:ln w="20320">
            <a:solidFill>
              <a:srgbClr val="3B475A"/>
            </a:solidFill>
            <a:headEnd type="none" w="lg" len="lg"/>
            <a:tailEnd type="triangle" w="lg" len="lg"/>
          </a:ln>
          <a:effectLst/>
        </p:spPr>
      </p:cxnSp>
      <p:cxnSp>
        <p:nvCxnSpPr>
          <p:cNvPr id="513" name="Link: Visualization - Reactor Model">
            <a:extLst>
              <a:ext uri="{FF2B5EF4-FFF2-40B4-BE49-F238E27FC236}">
                <a16:creationId xmlns:a16="http://schemas.microsoft.com/office/drawing/2014/main" id="{F622E62B-8FEC-E94D-45C5-13C26B2CC42F}"/>
              </a:ext>
            </a:extLst>
          </p:cNvPr>
          <p:cNvCxnSpPr>
            <a:cxnSpLocks/>
          </p:cNvCxnSpPr>
          <p:nvPr/>
        </p:nvCxnSpPr>
        <p:spPr>
          <a:xfrm>
            <a:off x="7169851" y="6169061"/>
            <a:ext cx="447918" cy="0"/>
          </a:xfrm>
          <a:prstGeom prst="line">
            <a:avLst/>
          </a:prstGeom>
          <a:ln w="20320">
            <a:solidFill>
              <a:srgbClr val="3B475A"/>
            </a:solidFill>
            <a:headEnd type="none" w="lg" len="lg"/>
            <a:tailEnd type="triangle" w="lg" len="lg"/>
          </a:ln>
          <a:effectLst/>
        </p:spPr>
      </p:cxnSp>
      <p:cxnSp>
        <p:nvCxnSpPr>
          <p:cNvPr id="514" name="Link: Visualization - Reactor Model">
            <a:extLst>
              <a:ext uri="{FF2B5EF4-FFF2-40B4-BE49-F238E27FC236}">
                <a16:creationId xmlns:a16="http://schemas.microsoft.com/office/drawing/2014/main" id="{C0293854-3D82-EE07-9FE0-F3074F43913C}"/>
              </a:ext>
            </a:extLst>
          </p:cNvPr>
          <p:cNvCxnSpPr>
            <a:cxnSpLocks/>
          </p:cNvCxnSpPr>
          <p:nvPr/>
        </p:nvCxnSpPr>
        <p:spPr>
          <a:xfrm>
            <a:off x="7169851" y="6321461"/>
            <a:ext cx="600112" cy="456400"/>
          </a:xfrm>
          <a:prstGeom prst="line">
            <a:avLst/>
          </a:prstGeom>
          <a:ln w="20320">
            <a:solidFill>
              <a:srgbClr val="3B475A"/>
            </a:solidFill>
            <a:headEnd type="none" w="lg" len="lg"/>
            <a:tailEnd type="triangle" w="lg" len="lg"/>
          </a:ln>
          <a:effectLst/>
        </p:spPr>
      </p:cxnSp>
      <p:sp>
        <p:nvSpPr>
          <p:cNvPr id="517" name="Reactor Model label">
            <a:extLst>
              <a:ext uri="{FF2B5EF4-FFF2-40B4-BE49-F238E27FC236}">
                <a16:creationId xmlns:a16="http://schemas.microsoft.com/office/drawing/2014/main" id="{DCA566D9-0536-D42B-8DAC-E08469B73D96}"/>
              </a:ext>
            </a:extLst>
          </p:cNvPr>
          <p:cNvSpPr txBox="1"/>
          <p:nvPr/>
        </p:nvSpPr>
        <p:spPr>
          <a:xfrm>
            <a:off x="7592983" y="8194585"/>
            <a:ext cx="1000933" cy="34379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360" b="1" dirty="0">
                <a:solidFill>
                  <a:srgbClr val="172033"/>
                </a:solidFill>
                <a:latin typeface="Arial"/>
              </a:rPr>
              <a:t>Components</a:t>
            </a:r>
          </a:p>
        </p:txBody>
      </p:sp>
      <p:grpSp>
        <p:nvGrpSpPr>
          <p:cNvPr id="525" name="Icon: neutronics">
            <a:extLst>
              <a:ext uri="{FF2B5EF4-FFF2-40B4-BE49-F238E27FC236}">
                <a16:creationId xmlns:a16="http://schemas.microsoft.com/office/drawing/2014/main" id="{8573E0D5-CB23-65F6-8650-A81143BC0074}"/>
              </a:ext>
            </a:extLst>
          </p:cNvPr>
          <p:cNvGrpSpPr/>
          <p:nvPr/>
        </p:nvGrpSpPr>
        <p:grpSpPr>
          <a:xfrm>
            <a:off x="9158073" y="6034247"/>
            <a:ext cx="249311" cy="249311"/>
            <a:chOff x="7850945" y="2912469"/>
            <a:chExt cx="249311" cy="249311"/>
          </a:xfrm>
        </p:grpSpPr>
        <p:sp>
          <p:nvSpPr>
            <p:cNvPr id="527" name="Orbit">
              <a:extLst>
                <a:ext uri="{FF2B5EF4-FFF2-40B4-BE49-F238E27FC236}">
                  <a16:creationId xmlns:a16="http://schemas.microsoft.com/office/drawing/2014/main" id="{8B13CED1-8D7B-1794-18A8-9C5B35C83F8D}"/>
                </a:ext>
              </a:extLst>
            </p:cNvPr>
            <p:cNvSpPr/>
            <p:nvPr/>
          </p:nvSpPr>
          <p:spPr>
            <a:xfrm>
              <a:off x="7850945" y="2988982"/>
              <a:ext cx="249311" cy="96286"/>
            </a:xfrm>
            <a:prstGeom prst="ellipse">
              <a:avLst/>
            </a:prstGeom>
            <a:noFill/>
            <a:ln w="16334">
              <a:solidFill>
                <a:srgbClr val="0A514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8" name="Orbit">
              <a:extLst>
                <a:ext uri="{FF2B5EF4-FFF2-40B4-BE49-F238E27FC236}">
                  <a16:creationId xmlns:a16="http://schemas.microsoft.com/office/drawing/2014/main" id="{8EC0C926-D3ED-5EE7-2B01-02C3044C4456}"/>
                </a:ext>
              </a:extLst>
            </p:cNvPr>
            <p:cNvSpPr/>
            <p:nvPr/>
          </p:nvSpPr>
          <p:spPr>
            <a:xfrm rot="3600000">
              <a:off x="7850945" y="2988982"/>
              <a:ext cx="249311" cy="96286"/>
            </a:xfrm>
            <a:prstGeom prst="ellipse">
              <a:avLst/>
            </a:prstGeom>
            <a:noFill/>
            <a:ln w="16334">
              <a:solidFill>
                <a:srgbClr val="0A514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9" name="Orbit">
              <a:extLst>
                <a:ext uri="{FF2B5EF4-FFF2-40B4-BE49-F238E27FC236}">
                  <a16:creationId xmlns:a16="http://schemas.microsoft.com/office/drawing/2014/main" id="{90D4F0FA-6409-BE6C-5858-6359574B3B59}"/>
                </a:ext>
              </a:extLst>
            </p:cNvPr>
            <p:cNvSpPr/>
            <p:nvPr/>
          </p:nvSpPr>
          <p:spPr>
            <a:xfrm rot="7200000">
              <a:off x="7850945" y="2988982"/>
              <a:ext cx="249311" cy="96286"/>
            </a:xfrm>
            <a:prstGeom prst="ellipse">
              <a:avLst/>
            </a:prstGeom>
            <a:noFill/>
            <a:ln w="16334">
              <a:solidFill>
                <a:srgbClr val="0A514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0" name="Nucleus">
              <a:extLst>
                <a:ext uri="{FF2B5EF4-FFF2-40B4-BE49-F238E27FC236}">
                  <a16:creationId xmlns:a16="http://schemas.microsoft.com/office/drawing/2014/main" id="{F1A8965B-928B-2DA5-F41A-CC8A2AC9DD6A}"/>
                </a:ext>
              </a:extLst>
            </p:cNvPr>
            <p:cNvSpPr/>
            <p:nvPr/>
          </p:nvSpPr>
          <p:spPr>
            <a:xfrm>
              <a:off x="7946370" y="3007895"/>
              <a:ext cx="58459" cy="58459"/>
            </a:xfrm>
            <a:prstGeom prst="ellipse">
              <a:avLst/>
            </a:prstGeom>
            <a:solidFill>
              <a:srgbClr val="0A514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540" name="Link: Visualization - Reactor Model">
            <a:extLst>
              <a:ext uri="{FF2B5EF4-FFF2-40B4-BE49-F238E27FC236}">
                <a16:creationId xmlns:a16="http://schemas.microsoft.com/office/drawing/2014/main" id="{2CFBDE45-6583-17EA-D8DF-27D9960AF3E5}"/>
              </a:ext>
            </a:extLst>
          </p:cNvPr>
          <p:cNvCxnSpPr>
            <a:cxnSpLocks/>
          </p:cNvCxnSpPr>
          <p:nvPr/>
        </p:nvCxnSpPr>
        <p:spPr>
          <a:xfrm>
            <a:off x="8593916" y="6158903"/>
            <a:ext cx="447918" cy="0"/>
          </a:xfrm>
          <a:prstGeom prst="line">
            <a:avLst/>
          </a:prstGeom>
          <a:ln w="20320">
            <a:solidFill>
              <a:srgbClr val="3B475A"/>
            </a:solidFill>
            <a:headEnd type="none" w="lg" len="lg"/>
            <a:tailEnd type="triangle" w="lg" len="lg"/>
          </a:ln>
          <a:effectLst/>
        </p:spPr>
      </p:cxnSp>
      <p:sp>
        <p:nvSpPr>
          <p:cNvPr id="542" name="Reactor Model label">
            <a:extLst>
              <a:ext uri="{FF2B5EF4-FFF2-40B4-BE49-F238E27FC236}">
                <a16:creationId xmlns:a16="http://schemas.microsoft.com/office/drawing/2014/main" id="{AFEA00FE-8895-75A3-E646-63C52465720F}"/>
              </a:ext>
            </a:extLst>
          </p:cNvPr>
          <p:cNvSpPr txBox="1"/>
          <p:nvPr/>
        </p:nvSpPr>
        <p:spPr>
          <a:xfrm>
            <a:off x="8782260" y="8204624"/>
            <a:ext cx="1000933" cy="34379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360" b="1" dirty="0">
                <a:solidFill>
                  <a:srgbClr val="172033"/>
                </a:solidFill>
                <a:latin typeface="Arial"/>
              </a:rPr>
              <a:t>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1812</TotalTime>
  <Words>28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ARMI architecture - radial view (editable)</dc:title>
  <dc:subject/>
  <dc:creator/>
  <cp:keywords/>
  <dc:description>generated using python-pptx</dc:description>
  <cp:lastModifiedBy>John Stilley</cp:lastModifiedBy>
  <cp:revision>30</cp:revision>
  <dcterms:created xsi:type="dcterms:W3CDTF">2013-01-27T09:14:16Z</dcterms:created>
  <dcterms:modified xsi:type="dcterms:W3CDTF">2026-10-23T18:13:52Z</dcterms:modified>
  <cp:category/>
</cp:coreProperties>
</file>